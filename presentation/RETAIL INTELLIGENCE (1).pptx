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alibri" panose="020F0502020204030204" pitchFamily="34" charset="0"/>
      <p:regular r:id="rId24"/>
      <p:bold r:id="rId25"/>
      <p:italic r:id="rId26"/>
      <p:boldItalic r:id="rId27"/>
    </p:embeddedFont>
    <p:embeddedFont>
      <p:font typeface="Chewy" panose="020B0604020202020204" charset="0"/>
      <p:regular r:id="rId28"/>
    </p:embeddedFont>
    <p:embeddedFont>
      <p:font typeface="Montserrat" panose="00000500000000000000" pitchFamily="2" charset="0"/>
      <p:regular r:id="rId29"/>
    </p:embeddedFont>
    <p:embeddedFont>
      <p:font typeface="Montserrat Bold" panose="00000800000000000000" charset="0"/>
      <p:regular r:id="rId30"/>
    </p:embeddedFont>
    <p:embeddedFont>
      <p:font typeface="Montserrat Semi-Bold" panose="020B0604020202020204" charset="0"/>
      <p:regular r:id="rId31"/>
    </p:embeddedFont>
    <p:embeddedFont>
      <p:font typeface="Open Sans" panose="020B0606030504020204" pitchFamily="34" charset="0"/>
      <p:regular r:id="rId32"/>
    </p:embeddedFont>
    <p:embeddedFont>
      <p:font typeface="Open Sans Bold" panose="020B0806030504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3038297" y="2592345"/>
            <a:ext cx="12211407" cy="1533525"/>
          </a:xfrm>
          <a:prstGeom prst="rect">
            <a:avLst/>
          </a:prstGeom>
        </p:spPr>
        <p:txBody>
          <a:bodyPr lIns="0" tIns="0" rIns="0" bIns="0" rtlCol="0" anchor="t">
            <a:spAutoFit/>
          </a:bodyPr>
          <a:lstStyle/>
          <a:p>
            <a:pPr algn="ctr">
              <a:lnSpc>
                <a:spcPts val="12599"/>
              </a:lnSpc>
              <a:spcBef>
                <a:spcPct val="0"/>
              </a:spcBef>
            </a:pPr>
            <a:r>
              <a:rPr lang="en-US" sz="9000" b="1">
                <a:solidFill>
                  <a:srgbClr val="10B981"/>
                </a:solidFill>
                <a:latin typeface="Open Sans Bold"/>
                <a:ea typeface="Open Sans Bold"/>
                <a:cs typeface="Open Sans Bold"/>
                <a:sym typeface="Open Sans Bold"/>
              </a:rPr>
              <a:t>RETAIL INTELLIGENCE</a:t>
            </a:r>
          </a:p>
        </p:txBody>
      </p:sp>
      <p:sp>
        <p:nvSpPr>
          <p:cNvPr id="3" name="TextBox 3"/>
          <p:cNvSpPr txBox="1"/>
          <p:nvPr/>
        </p:nvSpPr>
        <p:spPr>
          <a:xfrm>
            <a:off x="3929579" y="4811713"/>
            <a:ext cx="10694314" cy="596900"/>
          </a:xfrm>
          <a:prstGeom prst="rect">
            <a:avLst/>
          </a:prstGeom>
        </p:spPr>
        <p:txBody>
          <a:bodyPr lIns="0" tIns="0" rIns="0" bIns="0" rtlCol="0" anchor="t">
            <a:spAutoFit/>
          </a:bodyPr>
          <a:lstStyle/>
          <a:p>
            <a:pPr algn="ctr">
              <a:lnSpc>
                <a:spcPts val="4900"/>
              </a:lnSpc>
              <a:spcBef>
                <a:spcPct val="0"/>
              </a:spcBef>
            </a:pPr>
            <a:r>
              <a:rPr lang="en-US" sz="3500">
                <a:solidFill>
                  <a:srgbClr val="FFFFFF"/>
                </a:solidFill>
                <a:latin typeface="Open Sans"/>
                <a:ea typeface="Open Sans"/>
                <a:cs typeface="Open Sans"/>
                <a:sym typeface="Open Sans"/>
              </a:rPr>
              <a:t>Clustering, Classification &amp; Prédiction des Dépenses</a:t>
            </a:r>
          </a:p>
        </p:txBody>
      </p:sp>
      <p:sp>
        <p:nvSpPr>
          <p:cNvPr id="4" name="TextBox 4"/>
          <p:cNvSpPr txBox="1"/>
          <p:nvPr/>
        </p:nvSpPr>
        <p:spPr>
          <a:xfrm>
            <a:off x="5597398" y="6438900"/>
            <a:ext cx="7358676" cy="514350"/>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94A3B8"/>
                </a:solidFill>
                <a:latin typeface="Montserrat Bold"/>
                <a:ea typeface="Montserrat Bold"/>
                <a:cs typeface="Montserrat Bold"/>
                <a:sym typeface="Montserrat Bold"/>
              </a:rPr>
              <a:t>Rahma Ben Ameur — ENIS (GI2)</a:t>
            </a:r>
          </a:p>
        </p:txBody>
      </p:sp>
      <p:sp>
        <p:nvSpPr>
          <p:cNvPr id="5" name="TextBox 5"/>
          <p:cNvSpPr txBox="1"/>
          <p:nvPr/>
        </p:nvSpPr>
        <p:spPr>
          <a:xfrm>
            <a:off x="5799420" y="7137301"/>
            <a:ext cx="6689160" cy="415819"/>
          </a:xfrm>
          <a:prstGeom prst="rect">
            <a:avLst/>
          </a:prstGeom>
        </p:spPr>
        <p:txBody>
          <a:bodyPr wrap="square" lIns="0" tIns="0" rIns="0" bIns="0" rtlCol="0" anchor="t">
            <a:spAutoFit/>
          </a:bodyPr>
          <a:lstStyle/>
          <a:p>
            <a:pPr algn="ctr">
              <a:lnSpc>
                <a:spcPts val="3499"/>
              </a:lnSpc>
              <a:spcBef>
                <a:spcPct val="0"/>
              </a:spcBef>
            </a:pPr>
            <a:r>
              <a:rPr lang="en-US" sz="2499" dirty="0">
                <a:solidFill>
                  <a:srgbClr val="94A3B8"/>
                </a:solidFill>
                <a:latin typeface="Montserrat"/>
                <a:ea typeface="Montserrat"/>
                <a:cs typeface="Montserrat"/>
                <a:sym typeface="Montserrat"/>
              </a:rPr>
              <a:t>Atelier Machine Learning .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053382" y="615943"/>
            <a:ext cx="3009103" cy="1193800"/>
          </a:xfrm>
          <a:prstGeom prst="rect">
            <a:avLst/>
          </a:prstGeom>
        </p:spPr>
        <p:txBody>
          <a:bodyPr wrap="square" lIns="0" tIns="0" rIns="0" bIns="0" rtlCol="0" anchor="t">
            <a:spAutoFit/>
          </a:bodyPr>
          <a:lstStyle/>
          <a:p>
            <a:pPr algn="ctr">
              <a:lnSpc>
                <a:spcPts val="9799"/>
              </a:lnSpc>
              <a:spcBef>
                <a:spcPct val="0"/>
              </a:spcBef>
            </a:pPr>
            <a:r>
              <a:rPr lang="en-US" sz="6999" b="1" dirty="0">
                <a:solidFill>
                  <a:srgbClr val="000000"/>
                </a:solidFill>
                <a:latin typeface="Open Sans Bold"/>
                <a:ea typeface="Open Sans Bold"/>
                <a:cs typeface="Open Sans Bold"/>
                <a:sym typeface="Open Sans Bold"/>
              </a:rPr>
              <a:t>Plan</a:t>
            </a:r>
          </a:p>
        </p:txBody>
      </p:sp>
      <p:sp>
        <p:nvSpPr>
          <p:cNvPr id="3" name="TextBox 3"/>
          <p:cNvSpPr txBox="1"/>
          <p:nvPr/>
        </p:nvSpPr>
        <p:spPr>
          <a:xfrm>
            <a:off x="4979432" y="2409818"/>
            <a:ext cx="9036486" cy="66992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000000"/>
                </a:solidFill>
                <a:latin typeface="Montserrat"/>
                <a:ea typeface="Montserrat"/>
                <a:cs typeface="Montserrat"/>
                <a:sym typeface="Montserrat"/>
              </a:rPr>
              <a:t>1. Introduction et </a:t>
            </a:r>
            <a:r>
              <a:rPr lang="en-US" sz="3999" dirty="0" err="1">
                <a:solidFill>
                  <a:srgbClr val="000000"/>
                </a:solidFill>
                <a:latin typeface="Montserrat"/>
                <a:ea typeface="Montserrat"/>
                <a:cs typeface="Montserrat"/>
                <a:sym typeface="Montserrat"/>
              </a:rPr>
              <a:t>Problématique</a:t>
            </a:r>
            <a:endParaRPr lang="en-US" sz="3999" dirty="0">
              <a:solidFill>
                <a:srgbClr val="000000"/>
              </a:solidFill>
              <a:latin typeface="Montserrat"/>
              <a:ea typeface="Montserrat"/>
              <a:cs typeface="Montserrat"/>
              <a:sym typeface="Montserrat"/>
            </a:endParaRPr>
          </a:p>
        </p:txBody>
      </p:sp>
      <p:sp>
        <p:nvSpPr>
          <p:cNvPr id="4" name="TextBox 4"/>
          <p:cNvSpPr txBox="1"/>
          <p:nvPr/>
        </p:nvSpPr>
        <p:spPr>
          <a:xfrm>
            <a:off x="6385482" y="3594093"/>
            <a:ext cx="5112068" cy="669925"/>
          </a:xfrm>
          <a:prstGeom prst="rect">
            <a:avLst/>
          </a:prstGeom>
        </p:spPr>
        <p:txBody>
          <a:bodyPr lIns="0" tIns="0" rIns="0" bIns="0" rtlCol="0" anchor="t">
            <a:spAutoFit/>
          </a:bodyPr>
          <a:lstStyle/>
          <a:p>
            <a:pPr algn="ctr">
              <a:lnSpc>
                <a:spcPts val="5599"/>
              </a:lnSpc>
              <a:spcBef>
                <a:spcPct val="0"/>
              </a:spcBef>
            </a:pPr>
            <a:r>
              <a:rPr lang="en-US" sz="3999" dirty="0">
                <a:solidFill>
                  <a:srgbClr val="000000"/>
                </a:solidFill>
                <a:latin typeface="Montserrat"/>
                <a:ea typeface="Montserrat"/>
                <a:cs typeface="Montserrat"/>
                <a:sym typeface="Montserrat"/>
              </a:rPr>
              <a:t>2. Vision et </a:t>
            </a:r>
            <a:r>
              <a:rPr lang="en-US" sz="3999" dirty="0" err="1">
                <a:solidFill>
                  <a:srgbClr val="000000"/>
                </a:solidFill>
                <a:latin typeface="Montserrat"/>
                <a:ea typeface="Montserrat"/>
                <a:cs typeface="Montserrat"/>
                <a:sym typeface="Montserrat"/>
              </a:rPr>
              <a:t>Objectifs</a:t>
            </a:r>
            <a:endParaRPr lang="en-US" sz="3999" dirty="0">
              <a:solidFill>
                <a:srgbClr val="000000"/>
              </a:solidFill>
              <a:latin typeface="Montserrat"/>
              <a:ea typeface="Montserrat"/>
              <a:cs typeface="Montserrat"/>
              <a:sym typeface="Montserrat"/>
            </a:endParaRPr>
          </a:p>
        </p:txBody>
      </p:sp>
      <p:sp>
        <p:nvSpPr>
          <p:cNvPr id="5" name="TextBox 5"/>
          <p:cNvSpPr txBox="1"/>
          <p:nvPr/>
        </p:nvSpPr>
        <p:spPr>
          <a:xfrm>
            <a:off x="4217266" y="6016618"/>
            <a:ext cx="11098934" cy="669925"/>
          </a:xfrm>
          <a:prstGeom prst="rect">
            <a:avLst/>
          </a:prstGeom>
        </p:spPr>
        <p:txBody>
          <a:bodyPr wrap="square" lIns="0" tIns="0" rIns="0" bIns="0" rtlCol="0" anchor="t">
            <a:spAutoFit/>
          </a:bodyPr>
          <a:lstStyle/>
          <a:p>
            <a:pPr algn="ctr">
              <a:lnSpc>
                <a:spcPts val="5599"/>
              </a:lnSpc>
              <a:spcBef>
                <a:spcPct val="0"/>
              </a:spcBef>
            </a:pPr>
            <a:r>
              <a:rPr lang="en-US" sz="3999" dirty="0">
                <a:solidFill>
                  <a:srgbClr val="000000"/>
                </a:solidFill>
                <a:latin typeface="Montserrat"/>
                <a:ea typeface="Montserrat"/>
                <a:cs typeface="Montserrat"/>
                <a:sym typeface="Montserrat"/>
              </a:rPr>
              <a:t>3. </a:t>
            </a:r>
            <a:r>
              <a:rPr lang="en-US" sz="3999" dirty="0" err="1">
                <a:solidFill>
                  <a:srgbClr val="000000"/>
                </a:solidFill>
                <a:latin typeface="Montserrat"/>
                <a:ea typeface="Montserrat"/>
                <a:cs typeface="Montserrat"/>
                <a:sym typeface="Montserrat"/>
              </a:rPr>
              <a:t>Analyse</a:t>
            </a:r>
            <a:r>
              <a:rPr lang="en-US" sz="3999" dirty="0">
                <a:solidFill>
                  <a:srgbClr val="000000"/>
                </a:solidFill>
                <a:latin typeface="Montserrat"/>
                <a:ea typeface="Montserrat"/>
                <a:cs typeface="Montserrat"/>
                <a:sym typeface="Montserrat"/>
              </a:rPr>
              <a:t> des </a:t>
            </a:r>
            <a:r>
              <a:rPr lang="en-US" sz="3999" dirty="0" err="1">
                <a:solidFill>
                  <a:srgbClr val="000000"/>
                </a:solidFill>
                <a:latin typeface="Montserrat"/>
                <a:ea typeface="Montserrat"/>
                <a:cs typeface="Montserrat"/>
                <a:sym typeface="Montserrat"/>
              </a:rPr>
              <a:t>résultats</a:t>
            </a:r>
            <a:r>
              <a:rPr lang="en-US" sz="3999" dirty="0">
                <a:solidFill>
                  <a:srgbClr val="000000"/>
                </a:solidFill>
                <a:latin typeface="Montserrat"/>
                <a:ea typeface="Montserrat"/>
                <a:cs typeface="Montserrat"/>
                <a:sym typeface="Montserrat"/>
              </a:rPr>
              <a:t> et Performance</a:t>
            </a:r>
          </a:p>
        </p:txBody>
      </p:sp>
      <p:sp>
        <p:nvSpPr>
          <p:cNvPr id="6" name="TextBox 6"/>
          <p:cNvSpPr txBox="1"/>
          <p:nvPr/>
        </p:nvSpPr>
        <p:spPr>
          <a:xfrm>
            <a:off x="7053382" y="7277093"/>
            <a:ext cx="4085987" cy="669925"/>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Montserrat"/>
                <a:ea typeface="Montserrat"/>
                <a:cs typeface="Montserrat"/>
                <a:sym typeface="Montserrat"/>
              </a:rPr>
              <a:t>4. Déploiement </a:t>
            </a:r>
          </a:p>
        </p:txBody>
      </p:sp>
      <p:sp>
        <p:nvSpPr>
          <p:cNvPr id="7" name="TextBox 7"/>
          <p:cNvSpPr txBox="1"/>
          <p:nvPr/>
        </p:nvSpPr>
        <p:spPr>
          <a:xfrm>
            <a:off x="4558869" y="8537568"/>
            <a:ext cx="9241129" cy="669925"/>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Montserrat"/>
                <a:ea typeface="Montserrat"/>
                <a:cs typeface="Montserrat"/>
                <a:sym typeface="Montserrat"/>
              </a:rPr>
              <a:t>5. Conclusion et Perspectives</a:t>
            </a:r>
          </a:p>
        </p:txBody>
      </p:sp>
      <p:sp>
        <p:nvSpPr>
          <p:cNvPr id="8" name="TextBox 8"/>
          <p:cNvSpPr txBox="1"/>
          <p:nvPr/>
        </p:nvSpPr>
        <p:spPr>
          <a:xfrm>
            <a:off x="4578132" y="4756143"/>
            <a:ext cx="9962436" cy="669925"/>
          </a:xfrm>
          <a:prstGeom prst="rect">
            <a:avLst/>
          </a:prstGeom>
        </p:spPr>
        <p:txBody>
          <a:bodyPr wrap="square" lIns="0" tIns="0" rIns="0" bIns="0" rtlCol="0" anchor="t">
            <a:spAutoFit/>
          </a:bodyPr>
          <a:lstStyle/>
          <a:p>
            <a:pPr marL="863599" lvl="1" indent="-431800" algn="l">
              <a:lnSpc>
                <a:spcPts val="5599"/>
              </a:lnSpc>
              <a:spcBef>
                <a:spcPct val="0"/>
              </a:spcBef>
              <a:buAutoNum type="arabicPeriod"/>
            </a:pPr>
            <a:r>
              <a:rPr lang="en-US" sz="3999" dirty="0" err="1">
                <a:solidFill>
                  <a:srgbClr val="000000"/>
                </a:solidFill>
                <a:latin typeface="Montserrat"/>
                <a:ea typeface="Montserrat"/>
                <a:cs typeface="Montserrat"/>
                <a:sym typeface="Montserrat"/>
              </a:rPr>
              <a:t>Stratégie</a:t>
            </a:r>
            <a:r>
              <a:rPr lang="en-US" sz="3999" dirty="0">
                <a:solidFill>
                  <a:srgbClr val="000000"/>
                </a:solidFill>
                <a:latin typeface="Montserrat"/>
                <a:ea typeface="Montserrat"/>
                <a:cs typeface="Montserrat"/>
                <a:sym typeface="Montserrat"/>
              </a:rPr>
              <a:t> &amp; Feature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9657" y="3310024"/>
            <a:ext cx="7574980" cy="5063995"/>
          </a:xfrm>
          <a:custGeom>
            <a:avLst/>
            <a:gdLst/>
            <a:ahLst/>
            <a:cxnLst/>
            <a:rect l="l" t="t" r="r" b="b"/>
            <a:pathLst>
              <a:path w="7574980" h="5063995">
                <a:moveTo>
                  <a:pt x="0" y="0"/>
                </a:moveTo>
                <a:lnTo>
                  <a:pt x="7574980" y="0"/>
                </a:lnTo>
                <a:lnTo>
                  <a:pt x="7574980" y="5063995"/>
                </a:lnTo>
                <a:lnTo>
                  <a:pt x="0" y="5063995"/>
                </a:lnTo>
                <a:lnTo>
                  <a:pt x="0" y="0"/>
                </a:lnTo>
                <a:close/>
              </a:path>
            </a:pathLst>
          </a:custGeom>
          <a:blipFill>
            <a:blip r:embed="rId2"/>
            <a:stretch>
              <a:fillRect/>
            </a:stretch>
          </a:blipFill>
        </p:spPr>
      </p:sp>
      <p:sp>
        <p:nvSpPr>
          <p:cNvPr id="3" name="Freeform 3"/>
          <p:cNvSpPr/>
          <p:nvPr/>
        </p:nvSpPr>
        <p:spPr>
          <a:xfrm>
            <a:off x="8164129" y="1972580"/>
            <a:ext cx="10123871" cy="2401781"/>
          </a:xfrm>
          <a:custGeom>
            <a:avLst/>
            <a:gdLst/>
            <a:ahLst/>
            <a:cxnLst/>
            <a:rect l="l" t="t" r="r" b="b"/>
            <a:pathLst>
              <a:path w="10123871" h="2401781">
                <a:moveTo>
                  <a:pt x="0" y="0"/>
                </a:moveTo>
                <a:lnTo>
                  <a:pt x="10123871" y="0"/>
                </a:lnTo>
                <a:lnTo>
                  <a:pt x="10123871" y="2401782"/>
                </a:lnTo>
                <a:lnTo>
                  <a:pt x="0" y="2401782"/>
                </a:lnTo>
                <a:lnTo>
                  <a:pt x="0" y="0"/>
                </a:lnTo>
                <a:close/>
              </a:path>
            </a:pathLst>
          </a:custGeom>
          <a:blipFill>
            <a:blip r:embed="rId3"/>
            <a:stretch>
              <a:fillRect t="-27795" b="-19466"/>
            </a:stretch>
          </a:blipFill>
        </p:spPr>
      </p:sp>
      <p:sp>
        <p:nvSpPr>
          <p:cNvPr id="4" name="Freeform 4"/>
          <p:cNvSpPr/>
          <p:nvPr/>
        </p:nvSpPr>
        <p:spPr>
          <a:xfrm>
            <a:off x="8097454" y="4506846"/>
            <a:ext cx="9970235" cy="2304439"/>
          </a:xfrm>
          <a:custGeom>
            <a:avLst/>
            <a:gdLst/>
            <a:ahLst/>
            <a:cxnLst/>
            <a:rect l="l" t="t" r="r" b="b"/>
            <a:pathLst>
              <a:path w="9970235" h="2304439">
                <a:moveTo>
                  <a:pt x="0" y="0"/>
                </a:moveTo>
                <a:lnTo>
                  <a:pt x="9970235" y="0"/>
                </a:lnTo>
                <a:lnTo>
                  <a:pt x="9970235" y="2304439"/>
                </a:lnTo>
                <a:lnTo>
                  <a:pt x="0" y="2304439"/>
                </a:lnTo>
                <a:lnTo>
                  <a:pt x="0" y="0"/>
                </a:lnTo>
                <a:close/>
              </a:path>
            </a:pathLst>
          </a:custGeom>
          <a:blipFill>
            <a:blip r:embed="rId4"/>
            <a:stretch>
              <a:fillRect t="-25259" b="-21224"/>
            </a:stretch>
          </a:blipFill>
        </p:spPr>
      </p:sp>
      <p:sp>
        <p:nvSpPr>
          <p:cNvPr id="5" name="Freeform 5"/>
          <p:cNvSpPr/>
          <p:nvPr/>
        </p:nvSpPr>
        <p:spPr>
          <a:xfrm>
            <a:off x="8192270" y="6973210"/>
            <a:ext cx="10095730" cy="2294615"/>
          </a:xfrm>
          <a:custGeom>
            <a:avLst/>
            <a:gdLst/>
            <a:ahLst/>
            <a:cxnLst/>
            <a:rect l="l" t="t" r="r" b="b"/>
            <a:pathLst>
              <a:path w="10095730" h="2294615">
                <a:moveTo>
                  <a:pt x="0" y="0"/>
                </a:moveTo>
                <a:lnTo>
                  <a:pt x="10095730" y="0"/>
                </a:lnTo>
                <a:lnTo>
                  <a:pt x="10095730" y="2294615"/>
                </a:lnTo>
                <a:lnTo>
                  <a:pt x="0" y="2294615"/>
                </a:lnTo>
                <a:lnTo>
                  <a:pt x="0" y="0"/>
                </a:lnTo>
                <a:close/>
              </a:path>
            </a:pathLst>
          </a:custGeom>
          <a:blipFill>
            <a:blip r:embed="rId5"/>
            <a:stretch>
              <a:fillRect t="-27609" b="-24063"/>
            </a:stretch>
          </a:blipFill>
        </p:spPr>
      </p:sp>
      <p:sp>
        <p:nvSpPr>
          <p:cNvPr id="6" name="TextBox 6"/>
          <p:cNvSpPr txBox="1"/>
          <p:nvPr/>
        </p:nvSpPr>
        <p:spPr>
          <a:xfrm>
            <a:off x="0" y="408634"/>
            <a:ext cx="15721768" cy="243205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1. Introduction et Problématique</a:t>
            </a:r>
          </a:p>
          <a:p>
            <a:pPr algn="ctr">
              <a:lnSpc>
                <a:spcPts val="9799"/>
              </a:lnSpc>
              <a:spcBef>
                <a:spcPct val="0"/>
              </a:spcBef>
            </a:pPr>
            <a:endParaRPr lang="en-US" sz="6999" b="1">
              <a:solidFill>
                <a:srgbClr val="000000"/>
              </a:solidFill>
              <a:latin typeface="Open Sans Bold"/>
              <a:ea typeface="Open Sans Bold"/>
              <a:cs typeface="Open Sans Bold"/>
              <a:sym typeface="Open Sans Bold"/>
            </a:endParaRPr>
          </a:p>
        </p:txBody>
      </p:sp>
      <p:sp>
        <p:nvSpPr>
          <p:cNvPr id="7" name="TextBox 7"/>
          <p:cNvSpPr txBox="1"/>
          <p:nvPr/>
        </p:nvSpPr>
        <p:spPr>
          <a:xfrm>
            <a:off x="17492497" y="9353550"/>
            <a:ext cx="160496"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9172" y="4108119"/>
            <a:ext cx="4883494" cy="3092126"/>
            <a:chOff x="0" y="0"/>
            <a:chExt cx="893587" cy="565801"/>
          </a:xfrm>
        </p:grpSpPr>
        <p:sp>
          <p:nvSpPr>
            <p:cNvPr id="3" name="Freeform 3"/>
            <p:cNvSpPr/>
            <p:nvPr/>
          </p:nvSpPr>
          <p:spPr>
            <a:xfrm>
              <a:off x="0" y="0"/>
              <a:ext cx="893588" cy="565801"/>
            </a:xfrm>
            <a:custGeom>
              <a:avLst/>
              <a:gdLst/>
              <a:ahLst/>
              <a:cxnLst/>
              <a:rect l="l" t="t" r="r" b="b"/>
              <a:pathLst>
                <a:path w="893588" h="565801">
                  <a:moveTo>
                    <a:pt x="26951" y="0"/>
                  </a:moveTo>
                  <a:lnTo>
                    <a:pt x="866637" y="0"/>
                  </a:lnTo>
                  <a:cubicBezTo>
                    <a:pt x="881521" y="0"/>
                    <a:pt x="893588" y="12066"/>
                    <a:pt x="893588" y="26951"/>
                  </a:cubicBezTo>
                  <a:lnTo>
                    <a:pt x="893588" y="538850"/>
                  </a:lnTo>
                  <a:cubicBezTo>
                    <a:pt x="893588" y="545998"/>
                    <a:pt x="890748" y="552853"/>
                    <a:pt x="885694" y="557907"/>
                  </a:cubicBezTo>
                  <a:cubicBezTo>
                    <a:pt x="880640" y="562961"/>
                    <a:pt x="873785" y="565801"/>
                    <a:pt x="866637" y="565801"/>
                  </a:cubicBezTo>
                  <a:lnTo>
                    <a:pt x="26951" y="565801"/>
                  </a:lnTo>
                  <a:cubicBezTo>
                    <a:pt x="12066" y="565801"/>
                    <a:pt x="0" y="553735"/>
                    <a:pt x="0" y="538850"/>
                  </a:cubicBezTo>
                  <a:lnTo>
                    <a:pt x="0" y="26951"/>
                  </a:lnTo>
                  <a:cubicBezTo>
                    <a:pt x="0" y="19803"/>
                    <a:pt x="2839" y="12948"/>
                    <a:pt x="7894" y="7894"/>
                  </a:cubicBezTo>
                  <a:cubicBezTo>
                    <a:pt x="12948" y="2839"/>
                    <a:pt x="19803" y="0"/>
                    <a:pt x="26951" y="0"/>
                  </a:cubicBezTo>
                  <a:close/>
                </a:path>
              </a:pathLst>
            </a:custGeom>
            <a:solidFill>
              <a:srgbClr val="10B981"/>
            </a:solidFill>
          </p:spPr>
        </p:sp>
        <p:sp>
          <p:nvSpPr>
            <p:cNvPr id="4" name="TextBox 4"/>
            <p:cNvSpPr txBox="1"/>
            <p:nvPr/>
          </p:nvSpPr>
          <p:spPr>
            <a:xfrm>
              <a:off x="0" y="-38100"/>
              <a:ext cx="893587" cy="603901"/>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1028700" y="4058305"/>
            <a:ext cx="4893966" cy="3092126"/>
            <a:chOff x="0" y="0"/>
            <a:chExt cx="895504" cy="565801"/>
          </a:xfrm>
        </p:grpSpPr>
        <p:sp>
          <p:nvSpPr>
            <p:cNvPr id="6" name="Freeform 6"/>
            <p:cNvSpPr/>
            <p:nvPr/>
          </p:nvSpPr>
          <p:spPr>
            <a:xfrm>
              <a:off x="0" y="0"/>
              <a:ext cx="895504" cy="565801"/>
            </a:xfrm>
            <a:custGeom>
              <a:avLst/>
              <a:gdLst/>
              <a:ahLst/>
              <a:cxnLst/>
              <a:rect l="l" t="t" r="r" b="b"/>
              <a:pathLst>
                <a:path w="895504" h="565801">
                  <a:moveTo>
                    <a:pt x="26893" y="0"/>
                  </a:moveTo>
                  <a:lnTo>
                    <a:pt x="868611" y="0"/>
                  </a:lnTo>
                  <a:cubicBezTo>
                    <a:pt x="875743" y="0"/>
                    <a:pt x="882583" y="2833"/>
                    <a:pt x="887627" y="7877"/>
                  </a:cubicBezTo>
                  <a:cubicBezTo>
                    <a:pt x="892670" y="12920"/>
                    <a:pt x="895504" y="19760"/>
                    <a:pt x="895504" y="26893"/>
                  </a:cubicBezTo>
                  <a:lnTo>
                    <a:pt x="895504" y="538908"/>
                  </a:lnTo>
                  <a:cubicBezTo>
                    <a:pt x="895504" y="546040"/>
                    <a:pt x="892670" y="552881"/>
                    <a:pt x="887627" y="557924"/>
                  </a:cubicBezTo>
                  <a:cubicBezTo>
                    <a:pt x="882583" y="562968"/>
                    <a:pt x="875743" y="565801"/>
                    <a:pt x="868611" y="565801"/>
                  </a:cubicBezTo>
                  <a:lnTo>
                    <a:pt x="26893" y="565801"/>
                  </a:lnTo>
                  <a:cubicBezTo>
                    <a:pt x="19760" y="565801"/>
                    <a:pt x="12920" y="562968"/>
                    <a:pt x="7877" y="557924"/>
                  </a:cubicBezTo>
                  <a:cubicBezTo>
                    <a:pt x="2833" y="552881"/>
                    <a:pt x="0" y="546040"/>
                    <a:pt x="0" y="538908"/>
                  </a:cubicBezTo>
                  <a:lnTo>
                    <a:pt x="0" y="26893"/>
                  </a:lnTo>
                  <a:cubicBezTo>
                    <a:pt x="0" y="19760"/>
                    <a:pt x="2833" y="12920"/>
                    <a:pt x="7877" y="7877"/>
                  </a:cubicBezTo>
                  <a:cubicBezTo>
                    <a:pt x="12920" y="2833"/>
                    <a:pt x="19760" y="0"/>
                    <a:pt x="26893" y="0"/>
                  </a:cubicBezTo>
                  <a:close/>
                </a:path>
              </a:pathLst>
            </a:custGeom>
            <a:solidFill>
              <a:srgbClr val="F8FAFC"/>
            </a:solidFill>
          </p:spPr>
        </p:sp>
        <p:sp>
          <p:nvSpPr>
            <p:cNvPr id="7" name="TextBox 7"/>
            <p:cNvSpPr txBox="1"/>
            <p:nvPr/>
          </p:nvSpPr>
          <p:spPr>
            <a:xfrm>
              <a:off x="0" y="-38100"/>
              <a:ext cx="895504" cy="603901"/>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395796" y="4538030"/>
            <a:ext cx="1079971" cy="982333"/>
          </a:xfrm>
          <a:custGeom>
            <a:avLst/>
            <a:gdLst/>
            <a:ahLst/>
            <a:cxnLst/>
            <a:rect l="l" t="t" r="r" b="b"/>
            <a:pathLst>
              <a:path w="1079971" h="982333">
                <a:moveTo>
                  <a:pt x="0" y="0"/>
                </a:moveTo>
                <a:lnTo>
                  <a:pt x="1079971" y="0"/>
                </a:lnTo>
                <a:lnTo>
                  <a:pt x="1079971" y="982333"/>
                </a:lnTo>
                <a:lnTo>
                  <a:pt x="0" y="982333"/>
                </a:lnTo>
                <a:lnTo>
                  <a:pt x="0" y="0"/>
                </a:lnTo>
                <a:close/>
              </a:path>
            </a:pathLst>
          </a:custGeom>
          <a:blipFill>
            <a:blip r:embed="rId2"/>
            <a:stretch>
              <a:fillRect t="-4969" b="-4969"/>
            </a:stretch>
          </a:blipFill>
        </p:spPr>
      </p:sp>
      <p:grpSp>
        <p:nvGrpSpPr>
          <p:cNvPr id="9" name="Group 9"/>
          <p:cNvGrpSpPr/>
          <p:nvPr/>
        </p:nvGrpSpPr>
        <p:grpSpPr>
          <a:xfrm>
            <a:off x="6641303" y="4108119"/>
            <a:ext cx="4881016" cy="3092126"/>
            <a:chOff x="0" y="0"/>
            <a:chExt cx="893134" cy="565801"/>
          </a:xfrm>
        </p:grpSpPr>
        <p:sp>
          <p:nvSpPr>
            <p:cNvPr id="10" name="Freeform 10"/>
            <p:cNvSpPr/>
            <p:nvPr/>
          </p:nvSpPr>
          <p:spPr>
            <a:xfrm>
              <a:off x="0" y="0"/>
              <a:ext cx="893134" cy="565801"/>
            </a:xfrm>
            <a:custGeom>
              <a:avLst/>
              <a:gdLst/>
              <a:ahLst/>
              <a:cxnLst/>
              <a:rect l="l" t="t" r="r" b="b"/>
              <a:pathLst>
                <a:path w="893134" h="565801">
                  <a:moveTo>
                    <a:pt x="26964" y="0"/>
                  </a:moveTo>
                  <a:lnTo>
                    <a:pt x="866170" y="0"/>
                  </a:lnTo>
                  <a:cubicBezTo>
                    <a:pt x="873321" y="0"/>
                    <a:pt x="880180" y="2841"/>
                    <a:pt x="885236" y="7898"/>
                  </a:cubicBezTo>
                  <a:cubicBezTo>
                    <a:pt x="890293" y="12954"/>
                    <a:pt x="893134" y="19813"/>
                    <a:pt x="893134" y="26964"/>
                  </a:cubicBezTo>
                  <a:lnTo>
                    <a:pt x="893134" y="538837"/>
                  </a:lnTo>
                  <a:cubicBezTo>
                    <a:pt x="893134" y="545988"/>
                    <a:pt x="890293" y="552846"/>
                    <a:pt x="885236" y="557903"/>
                  </a:cubicBezTo>
                  <a:cubicBezTo>
                    <a:pt x="880180" y="562960"/>
                    <a:pt x="873321" y="565801"/>
                    <a:pt x="866170"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10B981"/>
            </a:solidFill>
          </p:spPr>
        </p:sp>
        <p:sp>
          <p:nvSpPr>
            <p:cNvPr id="11" name="TextBox 11"/>
            <p:cNvSpPr txBox="1"/>
            <p:nvPr/>
          </p:nvSpPr>
          <p:spPr>
            <a:xfrm>
              <a:off x="0" y="-38100"/>
              <a:ext cx="893134" cy="603901"/>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6630837" y="4058305"/>
            <a:ext cx="4891482" cy="3092126"/>
            <a:chOff x="0" y="0"/>
            <a:chExt cx="895049" cy="565801"/>
          </a:xfrm>
        </p:grpSpPr>
        <p:sp>
          <p:nvSpPr>
            <p:cNvPr id="13" name="Freeform 13"/>
            <p:cNvSpPr/>
            <p:nvPr/>
          </p:nvSpPr>
          <p:spPr>
            <a:xfrm>
              <a:off x="0" y="0"/>
              <a:ext cx="895049" cy="565801"/>
            </a:xfrm>
            <a:custGeom>
              <a:avLst/>
              <a:gdLst/>
              <a:ahLst/>
              <a:cxnLst/>
              <a:rect l="l" t="t" r="r" b="b"/>
              <a:pathLst>
                <a:path w="895049" h="565801">
                  <a:moveTo>
                    <a:pt x="26906" y="0"/>
                  </a:moveTo>
                  <a:lnTo>
                    <a:pt x="868143" y="0"/>
                  </a:lnTo>
                  <a:cubicBezTo>
                    <a:pt x="883003" y="0"/>
                    <a:pt x="895049" y="12046"/>
                    <a:pt x="895049" y="26906"/>
                  </a:cubicBezTo>
                  <a:lnTo>
                    <a:pt x="895049" y="538894"/>
                  </a:lnTo>
                  <a:cubicBezTo>
                    <a:pt x="895049" y="553754"/>
                    <a:pt x="883003" y="565801"/>
                    <a:pt x="868143" y="565801"/>
                  </a:cubicBezTo>
                  <a:lnTo>
                    <a:pt x="26906" y="565801"/>
                  </a:lnTo>
                  <a:cubicBezTo>
                    <a:pt x="12046" y="565801"/>
                    <a:pt x="0" y="553754"/>
                    <a:pt x="0" y="538894"/>
                  </a:cubicBezTo>
                  <a:lnTo>
                    <a:pt x="0" y="26906"/>
                  </a:lnTo>
                  <a:cubicBezTo>
                    <a:pt x="0" y="12046"/>
                    <a:pt x="12046" y="0"/>
                    <a:pt x="26906" y="0"/>
                  </a:cubicBezTo>
                  <a:close/>
                </a:path>
              </a:pathLst>
            </a:custGeom>
            <a:solidFill>
              <a:srgbClr val="F8FAFC"/>
            </a:solidFill>
          </p:spPr>
        </p:sp>
        <p:sp>
          <p:nvSpPr>
            <p:cNvPr id="14" name="TextBox 14"/>
            <p:cNvSpPr txBox="1"/>
            <p:nvPr/>
          </p:nvSpPr>
          <p:spPr>
            <a:xfrm>
              <a:off x="0" y="-38100"/>
              <a:ext cx="895049" cy="603901"/>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2151039" y="4108119"/>
            <a:ext cx="4870563" cy="3092126"/>
            <a:chOff x="0" y="0"/>
            <a:chExt cx="891221" cy="565801"/>
          </a:xfrm>
        </p:grpSpPr>
        <p:sp>
          <p:nvSpPr>
            <p:cNvPr id="16" name="Freeform 16"/>
            <p:cNvSpPr/>
            <p:nvPr/>
          </p:nvSpPr>
          <p:spPr>
            <a:xfrm>
              <a:off x="0" y="0"/>
              <a:ext cx="891221" cy="565801"/>
            </a:xfrm>
            <a:custGeom>
              <a:avLst/>
              <a:gdLst/>
              <a:ahLst/>
              <a:cxnLst/>
              <a:rect l="l" t="t" r="r" b="b"/>
              <a:pathLst>
                <a:path w="891221" h="565801">
                  <a:moveTo>
                    <a:pt x="27022" y="0"/>
                  </a:moveTo>
                  <a:lnTo>
                    <a:pt x="864199" y="0"/>
                  </a:lnTo>
                  <a:cubicBezTo>
                    <a:pt x="871366" y="0"/>
                    <a:pt x="878239" y="2847"/>
                    <a:pt x="883307" y="7915"/>
                  </a:cubicBezTo>
                  <a:cubicBezTo>
                    <a:pt x="888375" y="12982"/>
                    <a:pt x="891221" y="19855"/>
                    <a:pt x="891221" y="27022"/>
                  </a:cubicBezTo>
                  <a:lnTo>
                    <a:pt x="891221" y="538779"/>
                  </a:lnTo>
                  <a:cubicBezTo>
                    <a:pt x="891221" y="545946"/>
                    <a:pt x="888375" y="552819"/>
                    <a:pt x="883307" y="557886"/>
                  </a:cubicBezTo>
                  <a:cubicBezTo>
                    <a:pt x="878239" y="562954"/>
                    <a:pt x="871366" y="565801"/>
                    <a:pt x="864199" y="565801"/>
                  </a:cubicBezTo>
                  <a:lnTo>
                    <a:pt x="27022" y="565801"/>
                  </a:lnTo>
                  <a:cubicBezTo>
                    <a:pt x="19855" y="565801"/>
                    <a:pt x="12982" y="562954"/>
                    <a:pt x="7915" y="557886"/>
                  </a:cubicBezTo>
                  <a:cubicBezTo>
                    <a:pt x="2847" y="552819"/>
                    <a:pt x="0" y="545946"/>
                    <a:pt x="0" y="538779"/>
                  </a:cubicBezTo>
                  <a:lnTo>
                    <a:pt x="0" y="27022"/>
                  </a:lnTo>
                  <a:cubicBezTo>
                    <a:pt x="0" y="19855"/>
                    <a:pt x="2847" y="12982"/>
                    <a:pt x="7915" y="7915"/>
                  </a:cubicBezTo>
                  <a:cubicBezTo>
                    <a:pt x="12982" y="2847"/>
                    <a:pt x="19855" y="0"/>
                    <a:pt x="27022" y="0"/>
                  </a:cubicBezTo>
                  <a:close/>
                </a:path>
              </a:pathLst>
            </a:custGeom>
            <a:solidFill>
              <a:srgbClr val="10B981"/>
            </a:solidFill>
          </p:spPr>
        </p:sp>
        <p:sp>
          <p:nvSpPr>
            <p:cNvPr id="17" name="TextBox 17"/>
            <p:cNvSpPr txBox="1"/>
            <p:nvPr/>
          </p:nvSpPr>
          <p:spPr>
            <a:xfrm>
              <a:off x="0" y="-38100"/>
              <a:ext cx="891221" cy="603901"/>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2140595" y="4058305"/>
            <a:ext cx="4881007" cy="3092126"/>
            <a:chOff x="0" y="0"/>
            <a:chExt cx="893133" cy="565801"/>
          </a:xfrm>
        </p:grpSpPr>
        <p:sp>
          <p:nvSpPr>
            <p:cNvPr id="19" name="Freeform 19"/>
            <p:cNvSpPr/>
            <p:nvPr/>
          </p:nvSpPr>
          <p:spPr>
            <a:xfrm>
              <a:off x="0" y="0"/>
              <a:ext cx="893132" cy="565801"/>
            </a:xfrm>
            <a:custGeom>
              <a:avLst/>
              <a:gdLst/>
              <a:ahLst/>
              <a:cxnLst/>
              <a:rect l="l" t="t" r="r" b="b"/>
              <a:pathLst>
                <a:path w="893132" h="565801">
                  <a:moveTo>
                    <a:pt x="26964" y="0"/>
                  </a:moveTo>
                  <a:lnTo>
                    <a:pt x="866168" y="0"/>
                  </a:lnTo>
                  <a:cubicBezTo>
                    <a:pt x="873320" y="0"/>
                    <a:pt x="880178" y="2841"/>
                    <a:pt x="885235" y="7898"/>
                  </a:cubicBezTo>
                  <a:cubicBezTo>
                    <a:pt x="890292" y="12954"/>
                    <a:pt x="893132" y="19813"/>
                    <a:pt x="893132" y="26964"/>
                  </a:cubicBezTo>
                  <a:lnTo>
                    <a:pt x="893132" y="538837"/>
                  </a:lnTo>
                  <a:cubicBezTo>
                    <a:pt x="893132" y="553729"/>
                    <a:pt x="881060" y="565801"/>
                    <a:pt x="866168"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F8FAFC"/>
            </a:solidFill>
          </p:spPr>
        </p:sp>
        <p:sp>
          <p:nvSpPr>
            <p:cNvPr id="20" name="TextBox 20"/>
            <p:cNvSpPr txBox="1"/>
            <p:nvPr/>
          </p:nvSpPr>
          <p:spPr>
            <a:xfrm>
              <a:off x="0" y="-38100"/>
              <a:ext cx="893133" cy="603901"/>
            </a:xfrm>
            <a:prstGeom prst="rect">
              <a:avLst/>
            </a:prstGeom>
          </p:spPr>
          <p:txBody>
            <a:bodyPr lIns="50800" tIns="50800" rIns="50800" bIns="50800" rtlCol="0" anchor="ctr"/>
            <a:lstStyle/>
            <a:p>
              <a:pPr algn="ctr">
                <a:lnSpc>
                  <a:spcPts val="3499"/>
                </a:lnSpc>
              </a:pPr>
              <a:endParaRPr/>
            </a:p>
          </p:txBody>
        </p:sp>
      </p:grpSp>
      <p:sp>
        <p:nvSpPr>
          <p:cNvPr id="21" name="Freeform 21"/>
          <p:cNvSpPr/>
          <p:nvPr/>
        </p:nvSpPr>
        <p:spPr>
          <a:xfrm>
            <a:off x="6913667" y="4538030"/>
            <a:ext cx="998634" cy="801317"/>
          </a:xfrm>
          <a:custGeom>
            <a:avLst/>
            <a:gdLst/>
            <a:ahLst/>
            <a:cxnLst/>
            <a:rect l="l" t="t" r="r" b="b"/>
            <a:pathLst>
              <a:path w="998634" h="801317">
                <a:moveTo>
                  <a:pt x="0" y="0"/>
                </a:moveTo>
                <a:lnTo>
                  <a:pt x="998634" y="0"/>
                </a:lnTo>
                <a:lnTo>
                  <a:pt x="998634" y="801317"/>
                </a:lnTo>
                <a:lnTo>
                  <a:pt x="0" y="801317"/>
                </a:lnTo>
                <a:lnTo>
                  <a:pt x="0" y="0"/>
                </a:lnTo>
                <a:close/>
              </a:path>
            </a:pathLst>
          </a:custGeom>
          <a:blipFill>
            <a:blip r:embed="rId3"/>
            <a:stretch>
              <a:fillRect t="-4941" b="-4941"/>
            </a:stretch>
          </a:blipFill>
        </p:spPr>
      </p:sp>
      <p:sp>
        <p:nvSpPr>
          <p:cNvPr id="22" name="Freeform 22"/>
          <p:cNvSpPr/>
          <p:nvPr/>
        </p:nvSpPr>
        <p:spPr>
          <a:xfrm>
            <a:off x="12417669" y="4538030"/>
            <a:ext cx="765332" cy="646285"/>
          </a:xfrm>
          <a:custGeom>
            <a:avLst/>
            <a:gdLst/>
            <a:ahLst/>
            <a:cxnLst/>
            <a:rect l="l" t="t" r="r" b="b"/>
            <a:pathLst>
              <a:path w="765332" h="646285">
                <a:moveTo>
                  <a:pt x="0" y="0"/>
                </a:moveTo>
                <a:lnTo>
                  <a:pt x="765332" y="0"/>
                </a:lnTo>
                <a:lnTo>
                  <a:pt x="765332" y="646285"/>
                </a:lnTo>
                <a:lnTo>
                  <a:pt x="0" y="646285"/>
                </a:lnTo>
                <a:lnTo>
                  <a:pt x="0" y="0"/>
                </a:lnTo>
                <a:close/>
              </a:path>
            </a:pathLst>
          </a:custGeom>
          <a:blipFill>
            <a:blip r:embed="rId4"/>
            <a:stretch>
              <a:fillRect t="-4824" b="-4824"/>
            </a:stretch>
          </a:blipFill>
        </p:spPr>
      </p:sp>
      <p:sp>
        <p:nvSpPr>
          <p:cNvPr id="23" name="TextBox 23"/>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24" name="TextBox 24"/>
          <p:cNvSpPr txBox="1"/>
          <p:nvPr/>
        </p:nvSpPr>
        <p:spPr>
          <a:xfrm>
            <a:off x="1395796" y="5555636"/>
            <a:ext cx="3133141"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Clustering</a:t>
            </a:r>
          </a:p>
        </p:txBody>
      </p:sp>
      <p:sp>
        <p:nvSpPr>
          <p:cNvPr id="25" name="TextBox 25"/>
          <p:cNvSpPr txBox="1"/>
          <p:nvPr/>
        </p:nvSpPr>
        <p:spPr>
          <a:xfrm>
            <a:off x="6630837" y="5438781"/>
            <a:ext cx="4730427"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Churn (Classification)</a:t>
            </a:r>
          </a:p>
        </p:txBody>
      </p:sp>
      <p:sp>
        <p:nvSpPr>
          <p:cNvPr id="26" name="TextBox 26"/>
          <p:cNvSpPr txBox="1"/>
          <p:nvPr/>
        </p:nvSpPr>
        <p:spPr>
          <a:xfrm>
            <a:off x="12071402" y="5327036"/>
            <a:ext cx="4959726"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Spending (Régression)</a:t>
            </a:r>
          </a:p>
        </p:txBody>
      </p:sp>
      <p:sp>
        <p:nvSpPr>
          <p:cNvPr id="27" name="TextBox 27"/>
          <p:cNvSpPr txBox="1"/>
          <p:nvPr/>
        </p:nvSpPr>
        <p:spPr>
          <a:xfrm>
            <a:off x="17402234" y="9182100"/>
            <a:ext cx="252532"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0373" y="3753275"/>
            <a:ext cx="5520111" cy="3579706"/>
            <a:chOff x="0" y="0"/>
            <a:chExt cx="906095" cy="587589"/>
          </a:xfrm>
        </p:grpSpPr>
        <p:sp>
          <p:nvSpPr>
            <p:cNvPr id="3" name="Freeform 3"/>
            <p:cNvSpPr/>
            <p:nvPr/>
          </p:nvSpPr>
          <p:spPr>
            <a:xfrm>
              <a:off x="0" y="0"/>
              <a:ext cx="906095" cy="587589"/>
            </a:xfrm>
            <a:custGeom>
              <a:avLst/>
              <a:gdLst/>
              <a:ahLst/>
              <a:cxnLst/>
              <a:rect l="l" t="t" r="r" b="b"/>
              <a:pathLst>
                <a:path w="906095" h="587589">
                  <a:moveTo>
                    <a:pt x="23842" y="0"/>
                  </a:moveTo>
                  <a:lnTo>
                    <a:pt x="882253" y="0"/>
                  </a:lnTo>
                  <a:cubicBezTo>
                    <a:pt x="895421" y="0"/>
                    <a:pt x="906095" y="10675"/>
                    <a:pt x="906095" y="23842"/>
                  </a:cubicBezTo>
                  <a:lnTo>
                    <a:pt x="906095" y="563746"/>
                  </a:lnTo>
                  <a:cubicBezTo>
                    <a:pt x="906095" y="576914"/>
                    <a:pt x="895421" y="587589"/>
                    <a:pt x="882253" y="587589"/>
                  </a:cubicBezTo>
                  <a:lnTo>
                    <a:pt x="23842" y="587589"/>
                  </a:lnTo>
                  <a:cubicBezTo>
                    <a:pt x="10675" y="587589"/>
                    <a:pt x="0" y="576914"/>
                    <a:pt x="0" y="563746"/>
                  </a:cubicBezTo>
                  <a:lnTo>
                    <a:pt x="0" y="23842"/>
                  </a:lnTo>
                  <a:cubicBezTo>
                    <a:pt x="0" y="10675"/>
                    <a:pt x="10675" y="0"/>
                    <a:pt x="23842" y="0"/>
                  </a:cubicBezTo>
                  <a:close/>
                </a:path>
              </a:pathLst>
            </a:custGeom>
            <a:solidFill>
              <a:srgbClr val="10B981"/>
            </a:solidFill>
          </p:spPr>
        </p:sp>
        <p:sp>
          <p:nvSpPr>
            <p:cNvPr id="4" name="TextBox 4"/>
            <p:cNvSpPr txBox="1"/>
            <p:nvPr/>
          </p:nvSpPr>
          <p:spPr>
            <a:xfrm>
              <a:off x="0" y="-38100"/>
              <a:ext cx="906095" cy="625689"/>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1028700" y="3697745"/>
            <a:ext cx="5455584" cy="3446970"/>
            <a:chOff x="0" y="0"/>
            <a:chExt cx="895504" cy="565801"/>
          </a:xfrm>
        </p:grpSpPr>
        <p:sp>
          <p:nvSpPr>
            <p:cNvPr id="6" name="Freeform 6"/>
            <p:cNvSpPr/>
            <p:nvPr/>
          </p:nvSpPr>
          <p:spPr>
            <a:xfrm>
              <a:off x="0" y="0"/>
              <a:ext cx="895504" cy="565801"/>
            </a:xfrm>
            <a:custGeom>
              <a:avLst/>
              <a:gdLst/>
              <a:ahLst/>
              <a:cxnLst/>
              <a:rect l="l" t="t" r="r" b="b"/>
              <a:pathLst>
                <a:path w="895504" h="565801">
                  <a:moveTo>
                    <a:pt x="24124" y="0"/>
                  </a:moveTo>
                  <a:lnTo>
                    <a:pt x="871379" y="0"/>
                  </a:lnTo>
                  <a:cubicBezTo>
                    <a:pt x="884703" y="0"/>
                    <a:pt x="895504" y="10801"/>
                    <a:pt x="895504" y="24124"/>
                  </a:cubicBezTo>
                  <a:lnTo>
                    <a:pt x="895504" y="541676"/>
                  </a:lnTo>
                  <a:cubicBezTo>
                    <a:pt x="895504" y="548075"/>
                    <a:pt x="892962" y="554211"/>
                    <a:pt x="888438" y="558735"/>
                  </a:cubicBezTo>
                  <a:cubicBezTo>
                    <a:pt x="883913" y="563259"/>
                    <a:pt x="877777" y="565801"/>
                    <a:pt x="871379" y="565801"/>
                  </a:cubicBezTo>
                  <a:lnTo>
                    <a:pt x="24124" y="565801"/>
                  </a:lnTo>
                  <a:cubicBezTo>
                    <a:pt x="10801" y="565801"/>
                    <a:pt x="0" y="555000"/>
                    <a:pt x="0" y="541676"/>
                  </a:cubicBezTo>
                  <a:lnTo>
                    <a:pt x="0" y="24124"/>
                  </a:lnTo>
                  <a:cubicBezTo>
                    <a:pt x="0" y="17726"/>
                    <a:pt x="2542" y="11590"/>
                    <a:pt x="7066" y="7066"/>
                  </a:cubicBezTo>
                  <a:cubicBezTo>
                    <a:pt x="11590" y="2542"/>
                    <a:pt x="17726" y="0"/>
                    <a:pt x="24124" y="0"/>
                  </a:cubicBezTo>
                  <a:close/>
                </a:path>
              </a:pathLst>
            </a:custGeom>
            <a:solidFill>
              <a:srgbClr val="F8FAFC"/>
            </a:solidFill>
          </p:spPr>
        </p:sp>
        <p:sp>
          <p:nvSpPr>
            <p:cNvPr id="7" name="TextBox 7"/>
            <p:cNvSpPr txBox="1"/>
            <p:nvPr/>
          </p:nvSpPr>
          <p:spPr>
            <a:xfrm>
              <a:off x="0" y="-38100"/>
              <a:ext cx="895504" cy="603901"/>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437923" y="4232521"/>
            <a:ext cx="1203906" cy="1095063"/>
          </a:xfrm>
          <a:custGeom>
            <a:avLst/>
            <a:gdLst/>
            <a:ahLst/>
            <a:cxnLst/>
            <a:rect l="l" t="t" r="r" b="b"/>
            <a:pathLst>
              <a:path w="1203906" h="1095063">
                <a:moveTo>
                  <a:pt x="0" y="0"/>
                </a:moveTo>
                <a:lnTo>
                  <a:pt x="1203906" y="0"/>
                </a:lnTo>
                <a:lnTo>
                  <a:pt x="1203906" y="1095063"/>
                </a:lnTo>
                <a:lnTo>
                  <a:pt x="0" y="1095063"/>
                </a:lnTo>
                <a:lnTo>
                  <a:pt x="0" y="0"/>
                </a:lnTo>
                <a:close/>
              </a:path>
            </a:pathLst>
          </a:custGeom>
          <a:blipFill>
            <a:blip r:embed="rId2"/>
            <a:stretch>
              <a:fillRect t="-4969" b="-4969"/>
            </a:stretch>
          </a:blipFill>
        </p:spPr>
      </p:sp>
      <p:grpSp>
        <p:nvGrpSpPr>
          <p:cNvPr id="9" name="Group 9"/>
          <p:cNvGrpSpPr/>
          <p:nvPr/>
        </p:nvGrpSpPr>
        <p:grpSpPr>
          <a:xfrm>
            <a:off x="6980526" y="4108119"/>
            <a:ext cx="4881016" cy="3092126"/>
            <a:chOff x="0" y="0"/>
            <a:chExt cx="893134" cy="565801"/>
          </a:xfrm>
        </p:grpSpPr>
        <p:sp>
          <p:nvSpPr>
            <p:cNvPr id="10" name="Freeform 10"/>
            <p:cNvSpPr/>
            <p:nvPr/>
          </p:nvSpPr>
          <p:spPr>
            <a:xfrm>
              <a:off x="0" y="0"/>
              <a:ext cx="893134" cy="565801"/>
            </a:xfrm>
            <a:custGeom>
              <a:avLst/>
              <a:gdLst/>
              <a:ahLst/>
              <a:cxnLst/>
              <a:rect l="l" t="t" r="r" b="b"/>
              <a:pathLst>
                <a:path w="893134" h="565801">
                  <a:moveTo>
                    <a:pt x="26964" y="0"/>
                  </a:moveTo>
                  <a:lnTo>
                    <a:pt x="866170" y="0"/>
                  </a:lnTo>
                  <a:cubicBezTo>
                    <a:pt x="873321" y="0"/>
                    <a:pt x="880180" y="2841"/>
                    <a:pt x="885236" y="7898"/>
                  </a:cubicBezTo>
                  <a:cubicBezTo>
                    <a:pt x="890293" y="12954"/>
                    <a:pt x="893134" y="19813"/>
                    <a:pt x="893134" y="26964"/>
                  </a:cubicBezTo>
                  <a:lnTo>
                    <a:pt x="893134" y="538837"/>
                  </a:lnTo>
                  <a:cubicBezTo>
                    <a:pt x="893134" y="545988"/>
                    <a:pt x="890293" y="552846"/>
                    <a:pt x="885236" y="557903"/>
                  </a:cubicBezTo>
                  <a:cubicBezTo>
                    <a:pt x="880180" y="562960"/>
                    <a:pt x="873321" y="565801"/>
                    <a:pt x="866170"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10B981"/>
            </a:solidFill>
          </p:spPr>
        </p:sp>
        <p:sp>
          <p:nvSpPr>
            <p:cNvPr id="11" name="TextBox 11"/>
            <p:cNvSpPr txBox="1"/>
            <p:nvPr/>
          </p:nvSpPr>
          <p:spPr>
            <a:xfrm>
              <a:off x="0" y="-38100"/>
              <a:ext cx="893134" cy="603901"/>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6970059" y="4058305"/>
            <a:ext cx="4891482" cy="3092126"/>
            <a:chOff x="0" y="0"/>
            <a:chExt cx="895049" cy="565801"/>
          </a:xfrm>
        </p:grpSpPr>
        <p:sp>
          <p:nvSpPr>
            <p:cNvPr id="13" name="Freeform 13"/>
            <p:cNvSpPr/>
            <p:nvPr/>
          </p:nvSpPr>
          <p:spPr>
            <a:xfrm>
              <a:off x="0" y="0"/>
              <a:ext cx="895049" cy="565801"/>
            </a:xfrm>
            <a:custGeom>
              <a:avLst/>
              <a:gdLst/>
              <a:ahLst/>
              <a:cxnLst/>
              <a:rect l="l" t="t" r="r" b="b"/>
              <a:pathLst>
                <a:path w="895049" h="565801">
                  <a:moveTo>
                    <a:pt x="26906" y="0"/>
                  </a:moveTo>
                  <a:lnTo>
                    <a:pt x="868143" y="0"/>
                  </a:lnTo>
                  <a:cubicBezTo>
                    <a:pt x="883003" y="0"/>
                    <a:pt x="895049" y="12046"/>
                    <a:pt x="895049" y="26906"/>
                  </a:cubicBezTo>
                  <a:lnTo>
                    <a:pt x="895049" y="538894"/>
                  </a:lnTo>
                  <a:cubicBezTo>
                    <a:pt x="895049" y="553754"/>
                    <a:pt x="883003" y="565801"/>
                    <a:pt x="868143" y="565801"/>
                  </a:cubicBezTo>
                  <a:lnTo>
                    <a:pt x="26906" y="565801"/>
                  </a:lnTo>
                  <a:cubicBezTo>
                    <a:pt x="12046" y="565801"/>
                    <a:pt x="0" y="553754"/>
                    <a:pt x="0" y="538894"/>
                  </a:cubicBezTo>
                  <a:lnTo>
                    <a:pt x="0" y="26906"/>
                  </a:lnTo>
                  <a:cubicBezTo>
                    <a:pt x="0" y="12046"/>
                    <a:pt x="12046" y="0"/>
                    <a:pt x="26906" y="0"/>
                  </a:cubicBezTo>
                  <a:close/>
                </a:path>
              </a:pathLst>
            </a:custGeom>
            <a:solidFill>
              <a:srgbClr val="F8FAFC"/>
            </a:solidFill>
          </p:spPr>
        </p:sp>
        <p:sp>
          <p:nvSpPr>
            <p:cNvPr id="14" name="TextBox 14"/>
            <p:cNvSpPr txBox="1"/>
            <p:nvPr/>
          </p:nvSpPr>
          <p:spPr>
            <a:xfrm>
              <a:off x="0" y="-38100"/>
              <a:ext cx="895049" cy="603901"/>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2189139" y="4108119"/>
            <a:ext cx="4870563" cy="3092126"/>
            <a:chOff x="0" y="0"/>
            <a:chExt cx="891221" cy="565801"/>
          </a:xfrm>
        </p:grpSpPr>
        <p:sp>
          <p:nvSpPr>
            <p:cNvPr id="16" name="Freeform 16"/>
            <p:cNvSpPr/>
            <p:nvPr/>
          </p:nvSpPr>
          <p:spPr>
            <a:xfrm>
              <a:off x="0" y="0"/>
              <a:ext cx="891221" cy="565801"/>
            </a:xfrm>
            <a:custGeom>
              <a:avLst/>
              <a:gdLst/>
              <a:ahLst/>
              <a:cxnLst/>
              <a:rect l="l" t="t" r="r" b="b"/>
              <a:pathLst>
                <a:path w="891221" h="565801">
                  <a:moveTo>
                    <a:pt x="27022" y="0"/>
                  </a:moveTo>
                  <a:lnTo>
                    <a:pt x="864199" y="0"/>
                  </a:lnTo>
                  <a:cubicBezTo>
                    <a:pt x="871366" y="0"/>
                    <a:pt x="878239" y="2847"/>
                    <a:pt x="883307" y="7915"/>
                  </a:cubicBezTo>
                  <a:cubicBezTo>
                    <a:pt x="888375" y="12982"/>
                    <a:pt x="891221" y="19855"/>
                    <a:pt x="891221" y="27022"/>
                  </a:cubicBezTo>
                  <a:lnTo>
                    <a:pt x="891221" y="538779"/>
                  </a:lnTo>
                  <a:cubicBezTo>
                    <a:pt x="891221" y="545946"/>
                    <a:pt x="888375" y="552819"/>
                    <a:pt x="883307" y="557886"/>
                  </a:cubicBezTo>
                  <a:cubicBezTo>
                    <a:pt x="878239" y="562954"/>
                    <a:pt x="871366" y="565801"/>
                    <a:pt x="864199" y="565801"/>
                  </a:cubicBezTo>
                  <a:lnTo>
                    <a:pt x="27022" y="565801"/>
                  </a:lnTo>
                  <a:cubicBezTo>
                    <a:pt x="19855" y="565801"/>
                    <a:pt x="12982" y="562954"/>
                    <a:pt x="7915" y="557886"/>
                  </a:cubicBezTo>
                  <a:cubicBezTo>
                    <a:pt x="2847" y="552819"/>
                    <a:pt x="0" y="545946"/>
                    <a:pt x="0" y="538779"/>
                  </a:cubicBezTo>
                  <a:lnTo>
                    <a:pt x="0" y="27022"/>
                  </a:lnTo>
                  <a:cubicBezTo>
                    <a:pt x="0" y="19855"/>
                    <a:pt x="2847" y="12982"/>
                    <a:pt x="7915" y="7915"/>
                  </a:cubicBezTo>
                  <a:cubicBezTo>
                    <a:pt x="12982" y="2847"/>
                    <a:pt x="19855" y="0"/>
                    <a:pt x="27022" y="0"/>
                  </a:cubicBezTo>
                  <a:close/>
                </a:path>
              </a:pathLst>
            </a:custGeom>
            <a:solidFill>
              <a:srgbClr val="10B981"/>
            </a:solidFill>
          </p:spPr>
        </p:sp>
        <p:sp>
          <p:nvSpPr>
            <p:cNvPr id="17" name="TextBox 17"/>
            <p:cNvSpPr txBox="1"/>
            <p:nvPr/>
          </p:nvSpPr>
          <p:spPr>
            <a:xfrm>
              <a:off x="0" y="-38100"/>
              <a:ext cx="891221" cy="603901"/>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2178695" y="4058305"/>
            <a:ext cx="4881007" cy="3092126"/>
            <a:chOff x="0" y="0"/>
            <a:chExt cx="893133" cy="565801"/>
          </a:xfrm>
        </p:grpSpPr>
        <p:sp>
          <p:nvSpPr>
            <p:cNvPr id="19" name="Freeform 19"/>
            <p:cNvSpPr/>
            <p:nvPr/>
          </p:nvSpPr>
          <p:spPr>
            <a:xfrm>
              <a:off x="0" y="0"/>
              <a:ext cx="893132" cy="565801"/>
            </a:xfrm>
            <a:custGeom>
              <a:avLst/>
              <a:gdLst/>
              <a:ahLst/>
              <a:cxnLst/>
              <a:rect l="l" t="t" r="r" b="b"/>
              <a:pathLst>
                <a:path w="893132" h="565801">
                  <a:moveTo>
                    <a:pt x="26964" y="0"/>
                  </a:moveTo>
                  <a:lnTo>
                    <a:pt x="866168" y="0"/>
                  </a:lnTo>
                  <a:cubicBezTo>
                    <a:pt x="873320" y="0"/>
                    <a:pt x="880178" y="2841"/>
                    <a:pt x="885235" y="7898"/>
                  </a:cubicBezTo>
                  <a:cubicBezTo>
                    <a:pt x="890292" y="12954"/>
                    <a:pt x="893132" y="19813"/>
                    <a:pt x="893132" y="26964"/>
                  </a:cubicBezTo>
                  <a:lnTo>
                    <a:pt x="893132" y="538837"/>
                  </a:lnTo>
                  <a:cubicBezTo>
                    <a:pt x="893132" y="553729"/>
                    <a:pt x="881060" y="565801"/>
                    <a:pt x="866168"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F8FAFC"/>
            </a:solidFill>
          </p:spPr>
        </p:sp>
        <p:sp>
          <p:nvSpPr>
            <p:cNvPr id="20" name="TextBox 20"/>
            <p:cNvSpPr txBox="1"/>
            <p:nvPr/>
          </p:nvSpPr>
          <p:spPr>
            <a:xfrm>
              <a:off x="0" y="-38100"/>
              <a:ext cx="893133" cy="603901"/>
            </a:xfrm>
            <a:prstGeom prst="rect">
              <a:avLst/>
            </a:prstGeom>
          </p:spPr>
          <p:txBody>
            <a:bodyPr lIns="50800" tIns="50800" rIns="50800" bIns="50800" rtlCol="0" anchor="ctr"/>
            <a:lstStyle/>
            <a:p>
              <a:pPr algn="ctr">
                <a:lnSpc>
                  <a:spcPts val="3499"/>
                </a:lnSpc>
              </a:pPr>
              <a:endParaRPr/>
            </a:p>
          </p:txBody>
        </p:sp>
      </p:grpSp>
      <p:sp>
        <p:nvSpPr>
          <p:cNvPr id="21" name="Freeform 21"/>
          <p:cNvSpPr/>
          <p:nvPr/>
        </p:nvSpPr>
        <p:spPr>
          <a:xfrm>
            <a:off x="7252889" y="4538030"/>
            <a:ext cx="998634" cy="801317"/>
          </a:xfrm>
          <a:custGeom>
            <a:avLst/>
            <a:gdLst/>
            <a:ahLst/>
            <a:cxnLst/>
            <a:rect l="l" t="t" r="r" b="b"/>
            <a:pathLst>
              <a:path w="998634" h="801317">
                <a:moveTo>
                  <a:pt x="0" y="0"/>
                </a:moveTo>
                <a:lnTo>
                  <a:pt x="998634" y="0"/>
                </a:lnTo>
                <a:lnTo>
                  <a:pt x="998634" y="801317"/>
                </a:lnTo>
                <a:lnTo>
                  <a:pt x="0" y="801317"/>
                </a:lnTo>
                <a:lnTo>
                  <a:pt x="0" y="0"/>
                </a:lnTo>
                <a:close/>
              </a:path>
            </a:pathLst>
          </a:custGeom>
          <a:blipFill>
            <a:blip r:embed="rId3"/>
            <a:stretch>
              <a:fillRect t="-4941" b="-4941"/>
            </a:stretch>
          </a:blipFill>
        </p:spPr>
      </p:sp>
      <p:sp>
        <p:nvSpPr>
          <p:cNvPr id="22" name="Freeform 22"/>
          <p:cNvSpPr/>
          <p:nvPr/>
        </p:nvSpPr>
        <p:spPr>
          <a:xfrm>
            <a:off x="12455769" y="4538030"/>
            <a:ext cx="765332" cy="646285"/>
          </a:xfrm>
          <a:custGeom>
            <a:avLst/>
            <a:gdLst/>
            <a:ahLst/>
            <a:cxnLst/>
            <a:rect l="l" t="t" r="r" b="b"/>
            <a:pathLst>
              <a:path w="765332" h="646285">
                <a:moveTo>
                  <a:pt x="0" y="0"/>
                </a:moveTo>
                <a:lnTo>
                  <a:pt x="765332" y="0"/>
                </a:lnTo>
                <a:lnTo>
                  <a:pt x="765332" y="646285"/>
                </a:lnTo>
                <a:lnTo>
                  <a:pt x="0" y="646285"/>
                </a:lnTo>
                <a:lnTo>
                  <a:pt x="0" y="0"/>
                </a:lnTo>
                <a:close/>
              </a:path>
            </a:pathLst>
          </a:custGeom>
          <a:blipFill>
            <a:blip r:embed="rId4"/>
            <a:stretch>
              <a:fillRect t="-4824" b="-4824"/>
            </a:stretch>
          </a:blipFill>
        </p:spPr>
      </p:sp>
      <p:sp>
        <p:nvSpPr>
          <p:cNvPr id="23" name="TextBox 23"/>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24" name="TextBox 24"/>
          <p:cNvSpPr txBox="1"/>
          <p:nvPr/>
        </p:nvSpPr>
        <p:spPr>
          <a:xfrm>
            <a:off x="895483" y="5342198"/>
            <a:ext cx="3492692" cy="566817"/>
          </a:xfrm>
          <a:prstGeom prst="rect">
            <a:avLst/>
          </a:prstGeom>
        </p:spPr>
        <p:txBody>
          <a:bodyPr lIns="0" tIns="0" rIns="0" bIns="0" rtlCol="0" anchor="t">
            <a:spAutoFit/>
          </a:bodyPr>
          <a:lstStyle/>
          <a:p>
            <a:pPr algn="ctr">
              <a:lnSpc>
                <a:spcPts val="4681"/>
              </a:lnSpc>
              <a:spcBef>
                <a:spcPct val="0"/>
              </a:spcBef>
            </a:pPr>
            <a:r>
              <a:rPr lang="en-US" sz="3344" b="1">
                <a:solidFill>
                  <a:srgbClr val="000000"/>
                </a:solidFill>
                <a:latin typeface="Montserrat Bold"/>
                <a:ea typeface="Montserrat Bold"/>
                <a:cs typeface="Montserrat Bold"/>
                <a:sym typeface="Montserrat Bold"/>
              </a:rPr>
              <a:t>Clustering</a:t>
            </a:r>
          </a:p>
        </p:txBody>
      </p:sp>
      <p:sp>
        <p:nvSpPr>
          <p:cNvPr id="25" name="TextBox 25"/>
          <p:cNvSpPr txBox="1"/>
          <p:nvPr/>
        </p:nvSpPr>
        <p:spPr>
          <a:xfrm>
            <a:off x="6970059" y="5438781"/>
            <a:ext cx="4730427"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Churn (Classification)</a:t>
            </a:r>
          </a:p>
        </p:txBody>
      </p:sp>
      <p:sp>
        <p:nvSpPr>
          <p:cNvPr id="26" name="TextBox 26"/>
          <p:cNvSpPr txBox="1"/>
          <p:nvPr/>
        </p:nvSpPr>
        <p:spPr>
          <a:xfrm>
            <a:off x="12109502" y="5327036"/>
            <a:ext cx="4959726"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Spending (Régression)</a:t>
            </a:r>
          </a:p>
        </p:txBody>
      </p:sp>
      <p:sp>
        <p:nvSpPr>
          <p:cNvPr id="27" name="TextBox 27"/>
          <p:cNvSpPr txBox="1"/>
          <p:nvPr/>
        </p:nvSpPr>
        <p:spPr>
          <a:xfrm>
            <a:off x="17403127" y="9182100"/>
            <a:ext cx="250746"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8302" y="3666818"/>
            <a:ext cx="16762624" cy="4441987"/>
            <a:chOff x="0" y="0"/>
            <a:chExt cx="3067245" cy="812800"/>
          </a:xfrm>
        </p:grpSpPr>
        <p:sp>
          <p:nvSpPr>
            <p:cNvPr id="3" name="Freeform 3"/>
            <p:cNvSpPr/>
            <p:nvPr/>
          </p:nvSpPr>
          <p:spPr>
            <a:xfrm>
              <a:off x="0" y="0"/>
              <a:ext cx="3067245" cy="812800"/>
            </a:xfrm>
            <a:custGeom>
              <a:avLst/>
              <a:gdLst/>
              <a:ahLst/>
              <a:cxnLst/>
              <a:rect l="l" t="t" r="r" b="b"/>
              <a:pathLst>
                <a:path w="3067245" h="812800">
                  <a:moveTo>
                    <a:pt x="7852" y="0"/>
                  </a:moveTo>
                  <a:lnTo>
                    <a:pt x="3059393" y="0"/>
                  </a:lnTo>
                  <a:cubicBezTo>
                    <a:pt x="3063729" y="0"/>
                    <a:pt x="3067245" y="3515"/>
                    <a:pt x="3067245" y="7852"/>
                  </a:cubicBezTo>
                  <a:lnTo>
                    <a:pt x="3067245" y="804948"/>
                  </a:lnTo>
                  <a:cubicBezTo>
                    <a:pt x="3067245" y="807031"/>
                    <a:pt x="3066417" y="809028"/>
                    <a:pt x="3064945" y="810500"/>
                  </a:cubicBezTo>
                  <a:cubicBezTo>
                    <a:pt x="3063473" y="811973"/>
                    <a:pt x="3061476" y="812800"/>
                    <a:pt x="3059393" y="812800"/>
                  </a:cubicBezTo>
                  <a:lnTo>
                    <a:pt x="7852" y="812800"/>
                  </a:lnTo>
                  <a:cubicBezTo>
                    <a:pt x="3515" y="812800"/>
                    <a:pt x="0" y="809285"/>
                    <a:pt x="0" y="804948"/>
                  </a:cubicBezTo>
                  <a:lnTo>
                    <a:pt x="0" y="7852"/>
                  </a:lnTo>
                  <a:cubicBezTo>
                    <a:pt x="0" y="3515"/>
                    <a:pt x="3515" y="0"/>
                    <a:pt x="7852" y="0"/>
                  </a:cubicBezTo>
                  <a:close/>
                </a:path>
              </a:pathLst>
            </a:custGeom>
            <a:solidFill>
              <a:srgbClr val="10B981"/>
            </a:solidFill>
          </p:spPr>
        </p:sp>
        <p:sp>
          <p:nvSpPr>
            <p:cNvPr id="4" name="TextBox 4"/>
            <p:cNvSpPr txBox="1"/>
            <p:nvPr/>
          </p:nvSpPr>
          <p:spPr>
            <a:xfrm>
              <a:off x="0" y="-38100"/>
              <a:ext cx="3067245" cy="8509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757075" y="3595258"/>
            <a:ext cx="16773851" cy="4441987"/>
            <a:chOff x="0" y="0"/>
            <a:chExt cx="3069299" cy="812800"/>
          </a:xfrm>
        </p:grpSpPr>
        <p:sp>
          <p:nvSpPr>
            <p:cNvPr id="6" name="Freeform 6"/>
            <p:cNvSpPr/>
            <p:nvPr/>
          </p:nvSpPr>
          <p:spPr>
            <a:xfrm>
              <a:off x="0" y="0"/>
              <a:ext cx="3069299" cy="812800"/>
            </a:xfrm>
            <a:custGeom>
              <a:avLst/>
              <a:gdLst/>
              <a:ahLst/>
              <a:cxnLst/>
              <a:rect l="l" t="t" r="r" b="b"/>
              <a:pathLst>
                <a:path w="3069299" h="812800">
                  <a:moveTo>
                    <a:pt x="7846" y="0"/>
                  </a:moveTo>
                  <a:lnTo>
                    <a:pt x="3061453" y="0"/>
                  </a:lnTo>
                  <a:cubicBezTo>
                    <a:pt x="3063534" y="0"/>
                    <a:pt x="3065530" y="827"/>
                    <a:pt x="3067001" y="2298"/>
                  </a:cubicBezTo>
                  <a:cubicBezTo>
                    <a:pt x="3068472" y="3770"/>
                    <a:pt x="3069299" y="5765"/>
                    <a:pt x="3069299" y="7846"/>
                  </a:cubicBezTo>
                  <a:lnTo>
                    <a:pt x="3069299" y="804954"/>
                  </a:lnTo>
                  <a:cubicBezTo>
                    <a:pt x="3069299" y="807035"/>
                    <a:pt x="3068472" y="809030"/>
                    <a:pt x="3067001" y="810502"/>
                  </a:cubicBezTo>
                  <a:cubicBezTo>
                    <a:pt x="3065530" y="811973"/>
                    <a:pt x="3063534" y="812800"/>
                    <a:pt x="3061453" y="812800"/>
                  </a:cubicBezTo>
                  <a:lnTo>
                    <a:pt x="7846" y="812800"/>
                  </a:lnTo>
                  <a:cubicBezTo>
                    <a:pt x="5765" y="812800"/>
                    <a:pt x="3770" y="811973"/>
                    <a:pt x="2298" y="810502"/>
                  </a:cubicBezTo>
                  <a:cubicBezTo>
                    <a:pt x="827" y="809030"/>
                    <a:pt x="0" y="807035"/>
                    <a:pt x="0" y="804954"/>
                  </a:cubicBezTo>
                  <a:lnTo>
                    <a:pt x="0" y="7846"/>
                  </a:lnTo>
                  <a:cubicBezTo>
                    <a:pt x="0" y="5765"/>
                    <a:pt x="827" y="3770"/>
                    <a:pt x="2298" y="2298"/>
                  </a:cubicBezTo>
                  <a:cubicBezTo>
                    <a:pt x="3770" y="827"/>
                    <a:pt x="5765" y="0"/>
                    <a:pt x="7846" y="0"/>
                  </a:cubicBezTo>
                  <a:close/>
                </a:path>
              </a:pathLst>
            </a:custGeom>
            <a:solidFill>
              <a:srgbClr val="F8FAFC"/>
            </a:solidFill>
          </p:spPr>
        </p:sp>
        <p:sp>
          <p:nvSpPr>
            <p:cNvPr id="7" name="TextBox 7"/>
            <p:cNvSpPr txBox="1"/>
            <p:nvPr/>
          </p:nvSpPr>
          <p:spPr>
            <a:xfrm>
              <a:off x="0" y="-38100"/>
              <a:ext cx="3069299" cy="850900"/>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124171" y="3840144"/>
            <a:ext cx="1079971" cy="982333"/>
          </a:xfrm>
          <a:custGeom>
            <a:avLst/>
            <a:gdLst/>
            <a:ahLst/>
            <a:cxnLst/>
            <a:rect l="l" t="t" r="r" b="b"/>
            <a:pathLst>
              <a:path w="1079971" h="982333">
                <a:moveTo>
                  <a:pt x="0" y="0"/>
                </a:moveTo>
                <a:lnTo>
                  <a:pt x="1079971" y="0"/>
                </a:lnTo>
                <a:lnTo>
                  <a:pt x="1079971" y="982333"/>
                </a:lnTo>
                <a:lnTo>
                  <a:pt x="0" y="982333"/>
                </a:lnTo>
                <a:lnTo>
                  <a:pt x="0" y="0"/>
                </a:lnTo>
                <a:close/>
              </a:path>
            </a:pathLst>
          </a:custGeom>
          <a:blipFill>
            <a:blip r:embed="rId2"/>
            <a:stretch>
              <a:fillRect t="-4969" b="-4969"/>
            </a:stretch>
          </a:blipFill>
        </p:spPr>
      </p:sp>
      <p:sp>
        <p:nvSpPr>
          <p:cNvPr id="9" name="TextBox 9"/>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10" name="TextBox 10"/>
          <p:cNvSpPr txBox="1"/>
          <p:nvPr/>
        </p:nvSpPr>
        <p:spPr>
          <a:xfrm>
            <a:off x="637571" y="4857750"/>
            <a:ext cx="3133141"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Clustering</a:t>
            </a:r>
          </a:p>
        </p:txBody>
      </p:sp>
      <p:sp>
        <p:nvSpPr>
          <p:cNvPr id="11" name="TextBox 11"/>
          <p:cNvSpPr txBox="1"/>
          <p:nvPr/>
        </p:nvSpPr>
        <p:spPr>
          <a:xfrm>
            <a:off x="1040334" y="5980329"/>
            <a:ext cx="16276408" cy="10477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Identifier les profils types (VIP, Acheteurs Volume, Fidèle et à Risque ou nouveau) via clustering K-Means.</a:t>
            </a:r>
          </a:p>
        </p:txBody>
      </p:sp>
      <p:sp>
        <p:nvSpPr>
          <p:cNvPr id="12" name="TextBox 12"/>
          <p:cNvSpPr txBox="1"/>
          <p:nvPr/>
        </p:nvSpPr>
        <p:spPr>
          <a:xfrm>
            <a:off x="17381577" y="9182100"/>
            <a:ext cx="293846"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9390" y="4108119"/>
            <a:ext cx="4883494" cy="3092126"/>
            <a:chOff x="0" y="0"/>
            <a:chExt cx="893587" cy="565801"/>
          </a:xfrm>
        </p:grpSpPr>
        <p:sp>
          <p:nvSpPr>
            <p:cNvPr id="3" name="Freeform 3"/>
            <p:cNvSpPr/>
            <p:nvPr/>
          </p:nvSpPr>
          <p:spPr>
            <a:xfrm>
              <a:off x="0" y="0"/>
              <a:ext cx="893588" cy="565801"/>
            </a:xfrm>
            <a:custGeom>
              <a:avLst/>
              <a:gdLst/>
              <a:ahLst/>
              <a:cxnLst/>
              <a:rect l="l" t="t" r="r" b="b"/>
              <a:pathLst>
                <a:path w="893588" h="565801">
                  <a:moveTo>
                    <a:pt x="26951" y="0"/>
                  </a:moveTo>
                  <a:lnTo>
                    <a:pt x="866637" y="0"/>
                  </a:lnTo>
                  <a:cubicBezTo>
                    <a:pt x="881521" y="0"/>
                    <a:pt x="893588" y="12066"/>
                    <a:pt x="893588" y="26951"/>
                  </a:cubicBezTo>
                  <a:lnTo>
                    <a:pt x="893588" y="538850"/>
                  </a:lnTo>
                  <a:cubicBezTo>
                    <a:pt x="893588" y="545998"/>
                    <a:pt x="890748" y="552853"/>
                    <a:pt x="885694" y="557907"/>
                  </a:cubicBezTo>
                  <a:cubicBezTo>
                    <a:pt x="880640" y="562961"/>
                    <a:pt x="873785" y="565801"/>
                    <a:pt x="866637" y="565801"/>
                  </a:cubicBezTo>
                  <a:lnTo>
                    <a:pt x="26951" y="565801"/>
                  </a:lnTo>
                  <a:cubicBezTo>
                    <a:pt x="12066" y="565801"/>
                    <a:pt x="0" y="553735"/>
                    <a:pt x="0" y="538850"/>
                  </a:cubicBezTo>
                  <a:lnTo>
                    <a:pt x="0" y="26951"/>
                  </a:lnTo>
                  <a:cubicBezTo>
                    <a:pt x="0" y="19803"/>
                    <a:pt x="2839" y="12948"/>
                    <a:pt x="7894" y="7894"/>
                  </a:cubicBezTo>
                  <a:cubicBezTo>
                    <a:pt x="12948" y="2839"/>
                    <a:pt x="19803" y="0"/>
                    <a:pt x="26951" y="0"/>
                  </a:cubicBezTo>
                  <a:close/>
                </a:path>
              </a:pathLst>
            </a:custGeom>
            <a:solidFill>
              <a:srgbClr val="10B981"/>
            </a:solidFill>
          </p:spPr>
        </p:sp>
        <p:sp>
          <p:nvSpPr>
            <p:cNvPr id="4" name="TextBox 4"/>
            <p:cNvSpPr txBox="1"/>
            <p:nvPr/>
          </p:nvSpPr>
          <p:spPr>
            <a:xfrm>
              <a:off x="0" y="-38100"/>
              <a:ext cx="893587" cy="603901"/>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708918" y="4058305"/>
            <a:ext cx="4893966" cy="3092126"/>
            <a:chOff x="0" y="0"/>
            <a:chExt cx="895504" cy="565801"/>
          </a:xfrm>
        </p:grpSpPr>
        <p:sp>
          <p:nvSpPr>
            <p:cNvPr id="6" name="Freeform 6"/>
            <p:cNvSpPr/>
            <p:nvPr/>
          </p:nvSpPr>
          <p:spPr>
            <a:xfrm>
              <a:off x="0" y="0"/>
              <a:ext cx="895504" cy="565801"/>
            </a:xfrm>
            <a:custGeom>
              <a:avLst/>
              <a:gdLst/>
              <a:ahLst/>
              <a:cxnLst/>
              <a:rect l="l" t="t" r="r" b="b"/>
              <a:pathLst>
                <a:path w="895504" h="565801">
                  <a:moveTo>
                    <a:pt x="26893" y="0"/>
                  </a:moveTo>
                  <a:lnTo>
                    <a:pt x="868611" y="0"/>
                  </a:lnTo>
                  <a:cubicBezTo>
                    <a:pt x="875743" y="0"/>
                    <a:pt x="882583" y="2833"/>
                    <a:pt x="887627" y="7877"/>
                  </a:cubicBezTo>
                  <a:cubicBezTo>
                    <a:pt x="892670" y="12920"/>
                    <a:pt x="895504" y="19760"/>
                    <a:pt x="895504" y="26893"/>
                  </a:cubicBezTo>
                  <a:lnTo>
                    <a:pt x="895504" y="538908"/>
                  </a:lnTo>
                  <a:cubicBezTo>
                    <a:pt x="895504" y="546040"/>
                    <a:pt x="892670" y="552881"/>
                    <a:pt x="887627" y="557924"/>
                  </a:cubicBezTo>
                  <a:cubicBezTo>
                    <a:pt x="882583" y="562968"/>
                    <a:pt x="875743" y="565801"/>
                    <a:pt x="868611" y="565801"/>
                  </a:cubicBezTo>
                  <a:lnTo>
                    <a:pt x="26893" y="565801"/>
                  </a:lnTo>
                  <a:cubicBezTo>
                    <a:pt x="19760" y="565801"/>
                    <a:pt x="12920" y="562968"/>
                    <a:pt x="7877" y="557924"/>
                  </a:cubicBezTo>
                  <a:cubicBezTo>
                    <a:pt x="2833" y="552881"/>
                    <a:pt x="0" y="546040"/>
                    <a:pt x="0" y="538908"/>
                  </a:cubicBezTo>
                  <a:lnTo>
                    <a:pt x="0" y="26893"/>
                  </a:lnTo>
                  <a:cubicBezTo>
                    <a:pt x="0" y="19760"/>
                    <a:pt x="2833" y="12920"/>
                    <a:pt x="7877" y="7877"/>
                  </a:cubicBezTo>
                  <a:cubicBezTo>
                    <a:pt x="12920" y="2833"/>
                    <a:pt x="19760" y="0"/>
                    <a:pt x="26893" y="0"/>
                  </a:cubicBezTo>
                  <a:close/>
                </a:path>
              </a:pathLst>
            </a:custGeom>
            <a:solidFill>
              <a:srgbClr val="F8FAFC"/>
            </a:solidFill>
          </p:spPr>
        </p:sp>
        <p:sp>
          <p:nvSpPr>
            <p:cNvPr id="7" name="TextBox 7"/>
            <p:cNvSpPr txBox="1"/>
            <p:nvPr/>
          </p:nvSpPr>
          <p:spPr>
            <a:xfrm>
              <a:off x="0" y="-38100"/>
              <a:ext cx="895504" cy="603901"/>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076015" y="4538030"/>
            <a:ext cx="1079971" cy="982333"/>
          </a:xfrm>
          <a:custGeom>
            <a:avLst/>
            <a:gdLst/>
            <a:ahLst/>
            <a:cxnLst/>
            <a:rect l="l" t="t" r="r" b="b"/>
            <a:pathLst>
              <a:path w="1079971" h="982333">
                <a:moveTo>
                  <a:pt x="0" y="0"/>
                </a:moveTo>
                <a:lnTo>
                  <a:pt x="1079971" y="0"/>
                </a:lnTo>
                <a:lnTo>
                  <a:pt x="1079971" y="982333"/>
                </a:lnTo>
                <a:lnTo>
                  <a:pt x="0" y="982333"/>
                </a:lnTo>
                <a:lnTo>
                  <a:pt x="0" y="0"/>
                </a:lnTo>
                <a:close/>
              </a:path>
            </a:pathLst>
          </a:custGeom>
          <a:blipFill>
            <a:blip r:embed="rId2"/>
            <a:stretch>
              <a:fillRect t="-4969" b="-4969"/>
            </a:stretch>
          </a:blipFill>
        </p:spPr>
      </p:sp>
      <p:grpSp>
        <p:nvGrpSpPr>
          <p:cNvPr id="9" name="Group 9"/>
          <p:cNvGrpSpPr/>
          <p:nvPr/>
        </p:nvGrpSpPr>
        <p:grpSpPr>
          <a:xfrm>
            <a:off x="6186766" y="3542128"/>
            <a:ext cx="5907186" cy="3812976"/>
            <a:chOff x="0" y="0"/>
            <a:chExt cx="913664" cy="589753"/>
          </a:xfrm>
        </p:grpSpPr>
        <p:sp>
          <p:nvSpPr>
            <p:cNvPr id="10" name="Freeform 10"/>
            <p:cNvSpPr/>
            <p:nvPr/>
          </p:nvSpPr>
          <p:spPr>
            <a:xfrm>
              <a:off x="0" y="0"/>
              <a:ext cx="913664" cy="589753"/>
            </a:xfrm>
            <a:custGeom>
              <a:avLst/>
              <a:gdLst/>
              <a:ahLst/>
              <a:cxnLst/>
              <a:rect l="l" t="t" r="r" b="b"/>
              <a:pathLst>
                <a:path w="913664" h="589753">
                  <a:moveTo>
                    <a:pt x="22280" y="0"/>
                  </a:moveTo>
                  <a:lnTo>
                    <a:pt x="891384" y="0"/>
                  </a:lnTo>
                  <a:cubicBezTo>
                    <a:pt x="897293" y="0"/>
                    <a:pt x="902960" y="2347"/>
                    <a:pt x="907139" y="6526"/>
                  </a:cubicBezTo>
                  <a:cubicBezTo>
                    <a:pt x="911317" y="10704"/>
                    <a:pt x="913664" y="16371"/>
                    <a:pt x="913664" y="22280"/>
                  </a:cubicBezTo>
                  <a:lnTo>
                    <a:pt x="913664" y="567473"/>
                  </a:lnTo>
                  <a:cubicBezTo>
                    <a:pt x="913664" y="579778"/>
                    <a:pt x="903689" y="589753"/>
                    <a:pt x="891384" y="589753"/>
                  </a:cubicBezTo>
                  <a:lnTo>
                    <a:pt x="22280" y="589753"/>
                  </a:lnTo>
                  <a:cubicBezTo>
                    <a:pt x="16371" y="589753"/>
                    <a:pt x="10704" y="587406"/>
                    <a:pt x="6526" y="583227"/>
                  </a:cubicBezTo>
                  <a:cubicBezTo>
                    <a:pt x="2347" y="579049"/>
                    <a:pt x="0" y="573382"/>
                    <a:pt x="0" y="567473"/>
                  </a:cubicBezTo>
                  <a:lnTo>
                    <a:pt x="0" y="22280"/>
                  </a:lnTo>
                  <a:cubicBezTo>
                    <a:pt x="0" y="16371"/>
                    <a:pt x="2347" y="10704"/>
                    <a:pt x="6526" y="6526"/>
                  </a:cubicBezTo>
                  <a:cubicBezTo>
                    <a:pt x="10704" y="2347"/>
                    <a:pt x="16371" y="0"/>
                    <a:pt x="22280" y="0"/>
                  </a:cubicBezTo>
                  <a:close/>
                </a:path>
              </a:pathLst>
            </a:custGeom>
            <a:solidFill>
              <a:srgbClr val="10B981"/>
            </a:solidFill>
          </p:spPr>
        </p:sp>
        <p:sp>
          <p:nvSpPr>
            <p:cNvPr id="11" name="TextBox 11"/>
            <p:cNvSpPr txBox="1"/>
            <p:nvPr/>
          </p:nvSpPr>
          <p:spPr>
            <a:xfrm>
              <a:off x="0" y="-38100"/>
              <a:ext cx="913664" cy="627853"/>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6174384" y="3483196"/>
            <a:ext cx="5786832" cy="3658117"/>
            <a:chOff x="0" y="0"/>
            <a:chExt cx="895049" cy="565801"/>
          </a:xfrm>
        </p:grpSpPr>
        <p:sp>
          <p:nvSpPr>
            <p:cNvPr id="13" name="Freeform 13"/>
            <p:cNvSpPr/>
            <p:nvPr/>
          </p:nvSpPr>
          <p:spPr>
            <a:xfrm>
              <a:off x="0" y="0"/>
              <a:ext cx="895049" cy="565801"/>
            </a:xfrm>
            <a:custGeom>
              <a:avLst/>
              <a:gdLst/>
              <a:ahLst/>
              <a:cxnLst/>
              <a:rect l="l" t="t" r="r" b="b"/>
              <a:pathLst>
                <a:path w="895049" h="565801">
                  <a:moveTo>
                    <a:pt x="22743" y="0"/>
                  </a:moveTo>
                  <a:lnTo>
                    <a:pt x="872306" y="0"/>
                  </a:lnTo>
                  <a:cubicBezTo>
                    <a:pt x="878338" y="0"/>
                    <a:pt x="884123" y="2396"/>
                    <a:pt x="888388" y="6661"/>
                  </a:cubicBezTo>
                  <a:cubicBezTo>
                    <a:pt x="892653" y="10927"/>
                    <a:pt x="895049" y="16712"/>
                    <a:pt x="895049" y="22743"/>
                  </a:cubicBezTo>
                  <a:lnTo>
                    <a:pt x="895049" y="543057"/>
                  </a:lnTo>
                  <a:cubicBezTo>
                    <a:pt x="895049" y="549089"/>
                    <a:pt x="892653" y="554874"/>
                    <a:pt x="888388" y="559139"/>
                  </a:cubicBezTo>
                  <a:cubicBezTo>
                    <a:pt x="884123" y="563405"/>
                    <a:pt x="878338" y="565801"/>
                    <a:pt x="872306" y="565801"/>
                  </a:cubicBezTo>
                  <a:lnTo>
                    <a:pt x="22743" y="565801"/>
                  </a:lnTo>
                  <a:cubicBezTo>
                    <a:pt x="16712" y="565801"/>
                    <a:pt x="10927" y="563405"/>
                    <a:pt x="6661" y="559139"/>
                  </a:cubicBezTo>
                  <a:cubicBezTo>
                    <a:pt x="2396" y="554874"/>
                    <a:pt x="0" y="549089"/>
                    <a:pt x="0" y="543057"/>
                  </a:cubicBezTo>
                  <a:lnTo>
                    <a:pt x="0" y="22743"/>
                  </a:lnTo>
                  <a:cubicBezTo>
                    <a:pt x="0" y="16712"/>
                    <a:pt x="2396" y="10927"/>
                    <a:pt x="6661" y="6661"/>
                  </a:cubicBezTo>
                  <a:cubicBezTo>
                    <a:pt x="10927" y="2396"/>
                    <a:pt x="16712" y="0"/>
                    <a:pt x="22743" y="0"/>
                  </a:cubicBezTo>
                  <a:close/>
                </a:path>
              </a:pathLst>
            </a:custGeom>
            <a:solidFill>
              <a:srgbClr val="F8FAFC"/>
            </a:solidFill>
          </p:spPr>
        </p:sp>
        <p:sp>
          <p:nvSpPr>
            <p:cNvPr id="14" name="TextBox 14"/>
            <p:cNvSpPr txBox="1"/>
            <p:nvPr/>
          </p:nvSpPr>
          <p:spPr>
            <a:xfrm>
              <a:off x="0" y="-38100"/>
              <a:ext cx="895049" cy="603901"/>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2560187" y="4108119"/>
            <a:ext cx="4870563" cy="3092126"/>
            <a:chOff x="0" y="0"/>
            <a:chExt cx="891221" cy="565801"/>
          </a:xfrm>
        </p:grpSpPr>
        <p:sp>
          <p:nvSpPr>
            <p:cNvPr id="16" name="Freeform 16"/>
            <p:cNvSpPr/>
            <p:nvPr/>
          </p:nvSpPr>
          <p:spPr>
            <a:xfrm>
              <a:off x="0" y="0"/>
              <a:ext cx="891221" cy="565801"/>
            </a:xfrm>
            <a:custGeom>
              <a:avLst/>
              <a:gdLst/>
              <a:ahLst/>
              <a:cxnLst/>
              <a:rect l="l" t="t" r="r" b="b"/>
              <a:pathLst>
                <a:path w="891221" h="565801">
                  <a:moveTo>
                    <a:pt x="27022" y="0"/>
                  </a:moveTo>
                  <a:lnTo>
                    <a:pt x="864199" y="0"/>
                  </a:lnTo>
                  <a:cubicBezTo>
                    <a:pt x="871366" y="0"/>
                    <a:pt x="878239" y="2847"/>
                    <a:pt x="883307" y="7915"/>
                  </a:cubicBezTo>
                  <a:cubicBezTo>
                    <a:pt x="888375" y="12982"/>
                    <a:pt x="891221" y="19855"/>
                    <a:pt x="891221" y="27022"/>
                  </a:cubicBezTo>
                  <a:lnTo>
                    <a:pt x="891221" y="538779"/>
                  </a:lnTo>
                  <a:cubicBezTo>
                    <a:pt x="891221" y="545946"/>
                    <a:pt x="888375" y="552819"/>
                    <a:pt x="883307" y="557886"/>
                  </a:cubicBezTo>
                  <a:cubicBezTo>
                    <a:pt x="878239" y="562954"/>
                    <a:pt x="871366" y="565801"/>
                    <a:pt x="864199" y="565801"/>
                  </a:cubicBezTo>
                  <a:lnTo>
                    <a:pt x="27022" y="565801"/>
                  </a:lnTo>
                  <a:cubicBezTo>
                    <a:pt x="19855" y="565801"/>
                    <a:pt x="12982" y="562954"/>
                    <a:pt x="7915" y="557886"/>
                  </a:cubicBezTo>
                  <a:cubicBezTo>
                    <a:pt x="2847" y="552819"/>
                    <a:pt x="0" y="545946"/>
                    <a:pt x="0" y="538779"/>
                  </a:cubicBezTo>
                  <a:lnTo>
                    <a:pt x="0" y="27022"/>
                  </a:lnTo>
                  <a:cubicBezTo>
                    <a:pt x="0" y="19855"/>
                    <a:pt x="2847" y="12982"/>
                    <a:pt x="7915" y="7915"/>
                  </a:cubicBezTo>
                  <a:cubicBezTo>
                    <a:pt x="12982" y="2847"/>
                    <a:pt x="19855" y="0"/>
                    <a:pt x="27022" y="0"/>
                  </a:cubicBezTo>
                  <a:close/>
                </a:path>
              </a:pathLst>
            </a:custGeom>
            <a:solidFill>
              <a:srgbClr val="10B981"/>
            </a:solidFill>
          </p:spPr>
        </p:sp>
        <p:sp>
          <p:nvSpPr>
            <p:cNvPr id="17" name="TextBox 17"/>
            <p:cNvSpPr txBox="1"/>
            <p:nvPr/>
          </p:nvSpPr>
          <p:spPr>
            <a:xfrm>
              <a:off x="0" y="-38100"/>
              <a:ext cx="891221" cy="603901"/>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2549743" y="4058305"/>
            <a:ext cx="4881007" cy="3092126"/>
            <a:chOff x="0" y="0"/>
            <a:chExt cx="893133" cy="565801"/>
          </a:xfrm>
        </p:grpSpPr>
        <p:sp>
          <p:nvSpPr>
            <p:cNvPr id="19" name="Freeform 19"/>
            <p:cNvSpPr/>
            <p:nvPr/>
          </p:nvSpPr>
          <p:spPr>
            <a:xfrm>
              <a:off x="0" y="0"/>
              <a:ext cx="893132" cy="565801"/>
            </a:xfrm>
            <a:custGeom>
              <a:avLst/>
              <a:gdLst/>
              <a:ahLst/>
              <a:cxnLst/>
              <a:rect l="l" t="t" r="r" b="b"/>
              <a:pathLst>
                <a:path w="893132" h="565801">
                  <a:moveTo>
                    <a:pt x="26964" y="0"/>
                  </a:moveTo>
                  <a:lnTo>
                    <a:pt x="866168" y="0"/>
                  </a:lnTo>
                  <a:cubicBezTo>
                    <a:pt x="873320" y="0"/>
                    <a:pt x="880178" y="2841"/>
                    <a:pt x="885235" y="7898"/>
                  </a:cubicBezTo>
                  <a:cubicBezTo>
                    <a:pt x="890292" y="12954"/>
                    <a:pt x="893132" y="19813"/>
                    <a:pt x="893132" y="26964"/>
                  </a:cubicBezTo>
                  <a:lnTo>
                    <a:pt x="893132" y="538837"/>
                  </a:lnTo>
                  <a:cubicBezTo>
                    <a:pt x="893132" y="553729"/>
                    <a:pt x="881060" y="565801"/>
                    <a:pt x="866168"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F8FAFC"/>
            </a:solidFill>
          </p:spPr>
        </p:sp>
        <p:sp>
          <p:nvSpPr>
            <p:cNvPr id="20" name="TextBox 20"/>
            <p:cNvSpPr txBox="1"/>
            <p:nvPr/>
          </p:nvSpPr>
          <p:spPr>
            <a:xfrm>
              <a:off x="0" y="-38100"/>
              <a:ext cx="893133" cy="603901"/>
            </a:xfrm>
            <a:prstGeom prst="rect">
              <a:avLst/>
            </a:prstGeom>
          </p:spPr>
          <p:txBody>
            <a:bodyPr lIns="50800" tIns="50800" rIns="50800" bIns="50800" rtlCol="0" anchor="ctr"/>
            <a:lstStyle/>
            <a:p>
              <a:pPr algn="ctr">
                <a:lnSpc>
                  <a:spcPts val="3499"/>
                </a:lnSpc>
              </a:pPr>
              <a:endParaRPr/>
            </a:p>
          </p:txBody>
        </p:sp>
      </p:grpSp>
      <p:sp>
        <p:nvSpPr>
          <p:cNvPr id="21" name="Freeform 21"/>
          <p:cNvSpPr/>
          <p:nvPr/>
        </p:nvSpPr>
        <p:spPr>
          <a:xfrm>
            <a:off x="6508984" y="4050731"/>
            <a:ext cx="1181427" cy="947992"/>
          </a:xfrm>
          <a:custGeom>
            <a:avLst/>
            <a:gdLst/>
            <a:ahLst/>
            <a:cxnLst/>
            <a:rect l="l" t="t" r="r" b="b"/>
            <a:pathLst>
              <a:path w="1181427" h="947992">
                <a:moveTo>
                  <a:pt x="0" y="0"/>
                </a:moveTo>
                <a:lnTo>
                  <a:pt x="1181427" y="0"/>
                </a:lnTo>
                <a:lnTo>
                  <a:pt x="1181427" y="947992"/>
                </a:lnTo>
                <a:lnTo>
                  <a:pt x="0" y="947992"/>
                </a:lnTo>
                <a:lnTo>
                  <a:pt x="0" y="0"/>
                </a:lnTo>
                <a:close/>
              </a:path>
            </a:pathLst>
          </a:custGeom>
          <a:blipFill>
            <a:blip r:embed="rId3"/>
            <a:stretch>
              <a:fillRect t="-4941" b="-4941"/>
            </a:stretch>
          </a:blipFill>
        </p:spPr>
      </p:sp>
      <p:sp>
        <p:nvSpPr>
          <p:cNvPr id="22" name="Freeform 22"/>
          <p:cNvSpPr/>
          <p:nvPr/>
        </p:nvSpPr>
        <p:spPr>
          <a:xfrm>
            <a:off x="12826816" y="4538030"/>
            <a:ext cx="765332" cy="646285"/>
          </a:xfrm>
          <a:custGeom>
            <a:avLst/>
            <a:gdLst/>
            <a:ahLst/>
            <a:cxnLst/>
            <a:rect l="l" t="t" r="r" b="b"/>
            <a:pathLst>
              <a:path w="765332" h="646285">
                <a:moveTo>
                  <a:pt x="0" y="0"/>
                </a:moveTo>
                <a:lnTo>
                  <a:pt x="765333" y="0"/>
                </a:lnTo>
                <a:lnTo>
                  <a:pt x="765333" y="646285"/>
                </a:lnTo>
                <a:lnTo>
                  <a:pt x="0" y="646285"/>
                </a:lnTo>
                <a:lnTo>
                  <a:pt x="0" y="0"/>
                </a:lnTo>
                <a:close/>
              </a:path>
            </a:pathLst>
          </a:custGeom>
          <a:blipFill>
            <a:blip r:embed="rId4"/>
            <a:stretch>
              <a:fillRect t="-4824" b="-4824"/>
            </a:stretch>
          </a:blipFill>
        </p:spPr>
      </p:sp>
      <p:sp>
        <p:nvSpPr>
          <p:cNvPr id="23" name="TextBox 23"/>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24" name="TextBox 24"/>
          <p:cNvSpPr txBox="1"/>
          <p:nvPr/>
        </p:nvSpPr>
        <p:spPr>
          <a:xfrm>
            <a:off x="624216" y="5547218"/>
            <a:ext cx="3133141"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Clustering</a:t>
            </a:r>
          </a:p>
        </p:txBody>
      </p:sp>
      <p:sp>
        <p:nvSpPr>
          <p:cNvPr id="25" name="TextBox 25"/>
          <p:cNvSpPr txBox="1"/>
          <p:nvPr/>
        </p:nvSpPr>
        <p:spPr>
          <a:xfrm>
            <a:off x="6174384" y="5117294"/>
            <a:ext cx="5596297" cy="607562"/>
          </a:xfrm>
          <a:prstGeom prst="rect">
            <a:avLst/>
          </a:prstGeom>
        </p:spPr>
        <p:txBody>
          <a:bodyPr lIns="0" tIns="0" rIns="0" bIns="0" rtlCol="0" anchor="t">
            <a:spAutoFit/>
          </a:bodyPr>
          <a:lstStyle/>
          <a:p>
            <a:pPr algn="ctr">
              <a:lnSpc>
                <a:spcPts val="4968"/>
              </a:lnSpc>
              <a:spcBef>
                <a:spcPct val="0"/>
              </a:spcBef>
            </a:pPr>
            <a:r>
              <a:rPr lang="en-US" sz="3549" b="1">
                <a:solidFill>
                  <a:srgbClr val="000000"/>
                </a:solidFill>
                <a:latin typeface="Montserrat Bold"/>
                <a:ea typeface="Montserrat Bold"/>
                <a:cs typeface="Montserrat Bold"/>
                <a:sym typeface="Montserrat Bold"/>
              </a:rPr>
              <a:t>Churn (Classification)</a:t>
            </a:r>
          </a:p>
        </p:txBody>
      </p:sp>
      <p:sp>
        <p:nvSpPr>
          <p:cNvPr id="26" name="TextBox 26"/>
          <p:cNvSpPr txBox="1"/>
          <p:nvPr/>
        </p:nvSpPr>
        <p:spPr>
          <a:xfrm>
            <a:off x="12480549" y="5327036"/>
            <a:ext cx="4959726"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Spending (Régression)</a:t>
            </a:r>
          </a:p>
        </p:txBody>
      </p:sp>
      <p:sp>
        <p:nvSpPr>
          <p:cNvPr id="27" name="TextBox 27"/>
          <p:cNvSpPr txBox="1"/>
          <p:nvPr/>
        </p:nvSpPr>
        <p:spPr>
          <a:xfrm>
            <a:off x="17402710" y="9182100"/>
            <a:ext cx="251579"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8302" y="3666818"/>
            <a:ext cx="16762624" cy="4441987"/>
            <a:chOff x="0" y="0"/>
            <a:chExt cx="3067245" cy="812800"/>
          </a:xfrm>
        </p:grpSpPr>
        <p:sp>
          <p:nvSpPr>
            <p:cNvPr id="3" name="Freeform 3"/>
            <p:cNvSpPr/>
            <p:nvPr/>
          </p:nvSpPr>
          <p:spPr>
            <a:xfrm>
              <a:off x="0" y="0"/>
              <a:ext cx="3067245" cy="812800"/>
            </a:xfrm>
            <a:custGeom>
              <a:avLst/>
              <a:gdLst/>
              <a:ahLst/>
              <a:cxnLst/>
              <a:rect l="l" t="t" r="r" b="b"/>
              <a:pathLst>
                <a:path w="3067245" h="812800">
                  <a:moveTo>
                    <a:pt x="7852" y="0"/>
                  </a:moveTo>
                  <a:lnTo>
                    <a:pt x="3059393" y="0"/>
                  </a:lnTo>
                  <a:cubicBezTo>
                    <a:pt x="3063729" y="0"/>
                    <a:pt x="3067245" y="3515"/>
                    <a:pt x="3067245" y="7852"/>
                  </a:cubicBezTo>
                  <a:lnTo>
                    <a:pt x="3067245" y="804948"/>
                  </a:lnTo>
                  <a:cubicBezTo>
                    <a:pt x="3067245" y="807031"/>
                    <a:pt x="3066417" y="809028"/>
                    <a:pt x="3064945" y="810500"/>
                  </a:cubicBezTo>
                  <a:cubicBezTo>
                    <a:pt x="3063473" y="811973"/>
                    <a:pt x="3061476" y="812800"/>
                    <a:pt x="3059393" y="812800"/>
                  </a:cubicBezTo>
                  <a:lnTo>
                    <a:pt x="7852" y="812800"/>
                  </a:lnTo>
                  <a:cubicBezTo>
                    <a:pt x="3515" y="812800"/>
                    <a:pt x="0" y="809285"/>
                    <a:pt x="0" y="804948"/>
                  </a:cubicBezTo>
                  <a:lnTo>
                    <a:pt x="0" y="7852"/>
                  </a:lnTo>
                  <a:cubicBezTo>
                    <a:pt x="0" y="3515"/>
                    <a:pt x="3515" y="0"/>
                    <a:pt x="7852" y="0"/>
                  </a:cubicBezTo>
                  <a:close/>
                </a:path>
              </a:pathLst>
            </a:custGeom>
            <a:solidFill>
              <a:srgbClr val="10B981"/>
            </a:solidFill>
          </p:spPr>
        </p:sp>
        <p:sp>
          <p:nvSpPr>
            <p:cNvPr id="4" name="TextBox 4"/>
            <p:cNvSpPr txBox="1"/>
            <p:nvPr/>
          </p:nvSpPr>
          <p:spPr>
            <a:xfrm>
              <a:off x="0" y="-38100"/>
              <a:ext cx="3067245" cy="8509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757075" y="3595258"/>
            <a:ext cx="16773851" cy="4441987"/>
            <a:chOff x="0" y="0"/>
            <a:chExt cx="3069299" cy="812800"/>
          </a:xfrm>
        </p:grpSpPr>
        <p:sp>
          <p:nvSpPr>
            <p:cNvPr id="6" name="Freeform 6"/>
            <p:cNvSpPr/>
            <p:nvPr/>
          </p:nvSpPr>
          <p:spPr>
            <a:xfrm>
              <a:off x="0" y="0"/>
              <a:ext cx="3069299" cy="812800"/>
            </a:xfrm>
            <a:custGeom>
              <a:avLst/>
              <a:gdLst/>
              <a:ahLst/>
              <a:cxnLst/>
              <a:rect l="l" t="t" r="r" b="b"/>
              <a:pathLst>
                <a:path w="3069299" h="812800">
                  <a:moveTo>
                    <a:pt x="7846" y="0"/>
                  </a:moveTo>
                  <a:lnTo>
                    <a:pt x="3061453" y="0"/>
                  </a:lnTo>
                  <a:cubicBezTo>
                    <a:pt x="3063534" y="0"/>
                    <a:pt x="3065530" y="827"/>
                    <a:pt x="3067001" y="2298"/>
                  </a:cubicBezTo>
                  <a:cubicBezTo>
                    <a:pt x="3068472" y="3770"/>
                    <a:pt x="3069299" y="5765"/>
                    <a:pt x="3069299" y="7846"/>
                  </a:cubicBezTo>
                  <a:lnTo>
                    <a:pt x="3069299" y="804954"/>
                  </a:lnTo>
                  <a:cubicBezTo>
                    <a:pt x="3069299" y="807035"/>
                    <a:pt x="3068472" y="809030"/>
                    <a:pt x="3067001" y="810502"/>
                  </a:cubicBezTo>
                  <a:cubicBezTo>
                    <a:pt x="3065530" y="811973"/>
                    <a:pt x="3063534" y="812800"/>
                    <a:pt x="3061453" y="812800"/>
                  </a:cubicBezTo>
                  <a:lnTo>
                    <a:pt x="7846" y="812800"/>
                  </a:lnTo>
                  <a:cubicBezTo>
                    <a:pt x="5765" y="812800"/>
                    <a:pt x="3770" y="811973"/>
                    <a:pt x="2298" y="810502"/>
                  </a:cubicBezTo>
                  <a:cubicBezTo>
                    <a:pt x="827" y="809030"/>
                    <a:pt x="0" y="807035"/>
                    <a:pt x="0" y="804954"/>
                  </a:cubicBezTo>
                  <a:lnTo>
                    <a:pt x="0" y="7846"/>
                  </a:lnTo>
                  <a:cubicBezTo>
                    <a:pt x="0" y="5765"/>
                    <a:pt x="827" y="3770"/>
                    <a:pt x="2298" y="2298"/>
                  </a:cubicBezTo>
                  <a:cubicBezTo>
                    <a:pt x="3770" y="827"/>
                    <a:pt x="5765" y="0"/>
                    <a:pt x="7846" y="0"/>
                  </a:cubicBezTo>
                  <a:close/>
                </a:path>
              </a:pathLst>
            </a:custGeom>
            <a:solidFill>
              <a:srgbClr val="F8FAFC"/>
            </a:solidFill>
          </p:spPr>
        </p:sp>
        <p:sp>
          <p:nvSpPr>
            <p:cNvPr id="7" name="TextBox 7"/>
            <p:cNvSpPr txBox="1"/>
            <p:nvPr/>
          </p:nvSpPr>
          <p:spPr>
            <a:xfrm>
              <a:off x="0" y="-38100"/>
              <a:ext cx="3069299" cy="850900"/>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9" name="TextBox 9"/>
          <p:cNvSpPr txBox="1"/>
          <p:nvPr/>
        </p:nvSpPr>
        <p:spPr>
          <a:xfrm>
            <a:off x="1028700" y="4857750"/>
            <a:ext cx="4792343"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Churn (Classification)</a:t>
            </a:r>
          </a:p>
        </p:txBody>
      </p:sp>
      <p:sp>
        <p:nvSpPr>
          <p:cNvPr id="10" name="TextBox 10"/>
          <p:cNvSpPr txBox="1"/>
          <p:nvPr/>
        </p:nvSpPr>
        <p:spPr>
          <a:xfrm>
            <a:off x="1040334" y="5980329"/>
            <a:ext cx="16276408"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Anticiper le départ des clients avec un modèle Random Forest.</a:t>
            </a:r>
          </a:p>
        </p:txBody>
      </p:sp>
      <p:sp>
        <p:nvSpPr>
          <p:cNvPr id="11" name="Freeform 11"/>
          <p:cNvSpPr/>
          <p:nvPr/>
        </p:nvSpPr>
        <p:spPr>
          <a:xfrm>
            <a:off x="1234784" y="3950757"/>
            <a:ext cx="998634" cy="801317"/>
          </a:xfrm>
          <a:custGeom>
            <a:avLst/>
            <a:gdLst/>
            <a:ahLst/>
            <a:cxnLst/>
            <a:rect l="l" t="t" r="r" b="b"/>
            <a:pathLst>
              <a:path w="998634" h="801317">
                <a:moveTo>
                  <a:pt x="0" y="0"/>
                </a:moveTo>
                <a:lnTo>
                  <a:pt x="998634" y="0"/>
                </a:lnTo>
                <a:lnTo>
                  <a:pt x="998634" y="801317"/>
                </a:lnTo>
                <a:lnTo>
                  <a:pt x="0" y="801317"/>
                </a:lnTo>
                <a:lnTo>
                  <a:pt x="0" y="0"/>
                </a:lnTo>
                <a:close/>
              </a:path>
            </a:pathLst>
          </a:custGeom>
          <a:blipFill>
            <a:blip r:embed="rId2"/>
            <a:stretch>
              <a:fillRect t="-4941" b="-4941"/>
            </a:stretch>
          </a:blipFill>
        </p:spPr>
      </p:sp>
      <p:sp>
        <p:nvSpPr>
          <p:cNvPr id="12" name="TextBox 12"/>
          <p:cNvSpPr txBox="1"/>
          <p:nvPr/>
        </p:nvSpPr>
        <p:spPr>
          <a:xfrm>
            <a:off x="17393126" y="9182100"/>
            <a:ext cx="270748"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9172" y="4108119"/>
            <a:ext cx="4883494" cy="3092126"/>
            <a:chOff x="0" y="0"/>
            <a:chExt cx="893587" cy="565801"/>
          </a:xfrm>
        </p:grpSpPr>
        <p:sp>
          <p:nvSpPr>
            <p:cNvPr id="3" name="Freeform 3"/>
            <p:cNvSpPr/>
            <p:nvPr/>
          </p:nvSpPr>
          <p:spPr>
            <a:xfrm>
              <a:off x="0" y="0"/>
              <a:ext cx="893588" cy="565801"/>
            </a:xfrm>
            <a:custGeom>
              <a:avLst/>
              <a:gdLst/>
              <a:ahLst/>
              <a:cxnLst/>
              <a:rect l="l" t="t" r="r" b="b"/>
              <a:pathLst>
                <a:path w="893588" h="565801">
                  <a:moveTo>
                    <a:pt x="26951" y="0"/>
                  </a:moveTo>
                  <a:lnTo>
                    <a:pt x="866637" y="0"/>
                  </a:lnTo>
                  <a:cubicBezTo>
                    <a:pt x="881521" y="0"/>
                    <a:pt x="893588" y="12066"/>
                    <a:pt x="893588" y="26951"/>
                  </a:cubicBezTo>
                  <a:lnTo>
                    <a:pt x="893588" y="538850"/>
                  </a:lnTo>
                  <a:cubicBezTo>
                    <a:pt x="893588" y="545998"/>
                    <a:pt x="890748" y="552853"/>
                    <a:pt x="885694" y="557907"/>
                  </a:cubicBezTo>
                  <a:cubicBezTo>
                    <a:pt x="880640" y="562961"/>
                    <a:pt x="873785" y="565801"/>
                    <a:pt x="866637" y="565801"/>
                  </a:cubicBezTo>
                  <a:lnTo>
                    <a:pt x="26951" y="565801"/>
                  </a:lnTo>
                  <a:cubicBezTo>
                    <a:pt x="12066" y="565801"/>
                    <a:pt x="0" y="553735"/>
                    <a:pt x="0" y="538850"/>
                  </a:cubicBezTo>
                  <a:lnTo>
                    <a:pt x="0" y="26951"/>
                  </a:lnTo>
                  <a:cubicBezTo>
                    <a:pt x="0" y="19803"/>
                    <a:pt x="2839" y="12948"/>
                    <a:pt x="7894" y="7894"/>
                  </a:cubicBezTo>
                  <a:cubicBezTo>
                    <a:pt x="12948" y="2839"/>
                    <a:pt x="19803" y="0"/>
                    <a:pt x="26951" y="0"/>
                  </a:cubicBezTo>
                  <a:close/>
                </a:path>
              </a:pathLst>
            </a:custGeom>
            <a:solidFill>
              <a:srgbClr val="10B981"/>
            </a:solidFill>
          </p:spPr>
        </p:sp>
        <p:sp>
          <p:nvSpPr>
            <p:cNvPr id="4" name="TextBox 4"/>
            <p:cNvSpPr txBox="1"/>
            <p:nvPr/>
          </p:nvSpPr>
          <p:spPr>
            <a:xfrm>
              <a:off x="0" y="-38100"/>
              <a:ext cx="893587" cy="603901"/>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1028700" y="4058305"/>
            <a:ext cx="4893966" cy="3092126"/>
            <a:chOff x="0" y="0"/>
            <a:chExt cx="895504" cy="565801"/>
          </a:xfrm>
        </p:grpSpPr>
        <p:sp>
          <p:nvSpPr>
            <p:cNvPr id="6" name="Freeform 6"/>
            <p:cNvSpPr/>
            <p:nvPr/>
          </p:nvSpPr>
          <p:spPr>
            <a:xfrm>
              <a:off x="0" y="0"/>
              <a:ext cx="895504" cy="565801"/>
            </a:xfrm>
            <a:custGeom>
              <a:avLst/>
              <a:gdLst/>
              <a:ahLst/>
              <a:cxnLst/>
              <a:rect l="l" t="t" r="r" b="b"/>
              <a:pathLst>
                <a:path w="895504" h="565801">
                  <a:moveTo>
                    <a:pt x="26893" y="0"/>
                  </a:moveTo>
                  <a:lnTo>
                    <a:pt x="868611" y="0"/>
                  </a:lnTo>
                  <a:cubicBezTo>
                    <a:pt x="875743" y="0"/>
                    <a:pt x="882583" y="2833"/>
                    <a:pt x="887627" y="7877"/>
                  </a:cubicBezTo>
                  <a:cubicBezTo>
                    <a:pt x="892670" y="12920"/>
                    <a:pt x="895504" y="19760"/>
                    <a:pt x="895504" y="26893"/>
                  </a:cubicBezTo>
                  <a:lnTo>
                    <a:pt x="895504" y="538908"/>
                  </a:lnTo>
                  <a:cubicBezTo>
                    <a:pt x="895504" y="546040"/>
                    <a:pt x="892670" y="552881"/>
                    <a:pt x="887627" y="557924"/>
                  </a:cubicBezTo>
                  <a:cubicBezTo>
                    <a:pt x="882583" y="562968"/>
                    <a:pt x="875743" y="565801"/>
                    <a:pt x="868611" y="565801"/>
                  </a:cubicBezTo>
                  <a:lnTo>
                    <a:pt x="26893" y="565801"/>
                  </a:lnTo>
                  <a:cubicBezTo>
                    <a:pt x="19760" y="565801"/>
                    <a:pt x="12920" y="562968"/>
                    <a:pt x="7877" y="557924"/>
                  </a:cubicBezTo>
                  <a:cubicBezTo>
                    <a:pt x="2833" y="552881"/>
                    <a:pt x="0" y="546040"/>
                    <a:pt x="0" y="538908"/>
                  </a:cubicBezTo>
                  <a:lnTo>
                    <a:pt x="0" y="26893"/>
                  </a:lnTo>
                  <a:cubicBezTo>
                    <a:pt x="0" y="19760"/>
                    <a:pt x="2833" y="12920"/>
                    <a:pt x="7877" y="7877"/>
                  </a:cubicBezTo>
                  <a:cubicBezTo>
                    <a:pt x="12920" y="2833"/>
                    <a:pt x="19760" y="0"/>
                    <a:pt x="26893" y="0"/>
                  </a:cubicBezTo>
                  <a:close/>
                </a:path>
              </a:pathLst>
            </a:custGeom>
            <a:solidFill>
              <a:srgbClr val="F8FAFC"/>
            </a:solidFill>
          </p:spPr>
        </p:sp>
        <p:sp>
          <p:nvSpPr>
            <p:cNvPr id="7" name="TextBox 7"/>
            <p:cNvSpPr txBox="1"/>
            <p:nvPr/>
          </p:nvSpPr>
          <p:spPr>
            <a:xfrm>
              <a:off x="0" y="-38100"/>
              <a:ext cx="895504" cy="603901"/>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395796" y="4538030"/>
            <a:ext cx="1079971" cy="982333"/>
          </a:xfrm>
          <a:custGeom>
            <a:avLst/>
            <a:gdLst/>
            <a:ahLst/>
            <a:cxnLst/>
            <a:rect l="l" t="t" r="r" b="b"/>
            <a:pathLst>
              <a:path w="1079971" h="982333">
                <a:moveTo>
                  <a:pt x="0" y="0"/>
                </a:moveTo>
                <a:lnTo>
                  <a:pt x="1079971" y="0"/>
                </a:lnTo>
                <a:lnTo>
                  <a:pt x="1079971" y="982333"/>
                </a:lnTo>
                <a:lnTo>
                  <a:pt x="0" y="982333"/>
                </a:lnTo>
                <a:lnTo>
                  <a:pt x="0" y="0"/>
                </a:lnTo>
                <a:close/>
              </a:path>
            </a:pathLst>
          </a:custGeom>
          <a:blipFill>
            <a:blip r:embed="rId2"/>
            <a:stretch>
              <a:fillRect t="-4969" b="-4969"/>
            </a:stretch>
          </a:blipFill>
        </p:spPr>
      </p:sp>
      <p:grpSp>
        <p:nvGrpSpPr>
          <p:cNvPr id="9" name="Group 9"/>
          <p:cNvGrpSpPr/>
          <p:nvPr/>
        </p:nvGrpSpPr>
        <p:grpSpPr>
          <a:xfrm>
            <a:off x="6161709" y="4108119"/>
            <a:ext cx="4881016" cy="3092126"/>
            <a:chOff x="0" y="0"/>
            <a:chExt cx="893134" cy="565801"/>
          </a:xfrm>
        </p:grpSpPr>
        <p:sp>
          <p:nvSpPr>
            <p:cNvPr id="10" name="Freeform 10"/>
            <p:cNvSpPr/>
            <p:nvPr/>
          </p:nvSpPr>
          <p:spPr>
            <a:xfrm>
              <a:off x="0" y="0"/>
              <a:ext cx="893134" cy="565801"/>
            </a:xfrm>
            <a:custGeom>
              <a:avLst/>
              <a:gdLst/>
              <a:ahLst/>
              <a:cxnLst/>
              <a:rect l="l" t="t" r="r" b="b"/>
              <a:pathLst>
                <a:path w="893134" h="565801">
                  <a:moveTo>
                    <a:pt x="26964" y="0"/>
                  </a:moveTo>
                  <a:lnTo>
                    <a:pt x="866170" y="0"/>
                  </a:lnTo>
                  <a:cubicBezTo>
                    <a:pt x="873321" y="0"/>
                    <a:pt x="880180" y="2841"/>
                    <a:pt x="885236" y="7898"/>
                  </a:cubicBezTo>
                  <a:cubicBezTo>
                    <a:pt x="890293" y="12954"/>
                    <a:pt x="893134" y="19813"/>
                    <a:pt x="893134" y="26964"/>
                  </a:cubicBezTo>
                  <a:lnTo>
                    <a:pt x="893134" y="538837"/>
                  </a:lnTo>
                  <a:cubicBezTo>
                    <a:pt x="893134" y="545988"/>
                    <a:pt x="890293" y="552846"/>
                    <a:pt x="885236" y="557903"/>
                  </a:cubicBezTo>
                  <a:cubicBezTo>
                    <a:pt x="880180" y="562960"/>
                    <a:pt x="873321" y="565801"/>
                    <a:pt x="866170" y="565801"/>
                  </a:cubicBezTo>
                  <a:lnTo>
                    <a:pt x="26964" y="565801"/>
                  </a:lnTo>
                  <a:cubicBezTo>
                    <a:pt x="12072" y="565801"/>
                    <a:pt x="0" y="553729"/>
                    <a:pt x="0" y="538837"/>
                  </a:cubicBezTo>
                  <a:lnTo>
                    <a:pt x="0" y="26964"/>
                  </a:lnTo>
                  <a:cubicBezTo>
                    <a:pt x="0" y="19813"/>
                    <a:pt x="2841" y="12954"/>
                    <a:pt x="7898" y="7898"/>
                  </a:cubicBezTo>
                  <a:cubicBezTo>
                    <a:pt x="12954" y="2841"/>
                    <a:pt x="19813" y="0"/>
                    <a:pt x="26964" y="0"/>
                  </a:cubicBezTo>
                  <a:close/>
                </a:path>
              </a:pathLst>
            </a:custGeom>
            <a:solidFill>
              <a:srgbClr val="10B981"/>
            </a:solidFill>
          </p:spPr>
        </p:sp>
        <p:sp>
          <p:nvSpPr>
            <p:cNvPr id="11" name="TextBox 11"/>
            <p:cNvSpPr txBox="1"/>
            <p:nvPr/>
          </p:nvSpPr>
          <p:spPr>
            <a:xfrm>
              <a:off x="0" y="-38100"/>
              <a:ext cx="893134" cy="603901"/>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6151242" y="4058305"/>
            <a:ext cx="4891482" cy="3092126"/>
            <a:chOff x="0" y="0"/>
            <a:chExt cx="895049" cy="565801"/>
          </a:xfrm>
        </p:grpSpPr>
        <p:sp>
          <p:nvSpPr>
            <p:cNvPr id="13" name="Freeform 13"/>
            <p:cNvSpPr/>
            <p:nvPr/>
          </p:nvSpPr>
          <p:spPr>
            <a:xfrm>
              <a:off x="0" y="0"/>
              <a:ext cx="895049" cy="565801"/>
            </a:xfrm>
            <a:custGeom>
              <a:avLst/>
              <a:gdLst/>
              <a:ahLst/>
              <a:cxnLst/>
              <a:rect l="l" t="t" r="r" b="b"/>
              <a:pathLst>
                <a:path w="895049" h="565801">
                  <a:moveTo>
                    <a:pt x="26906" y="0"/>
                  </a:moveTo>
                  <a:lnTo>
                    <a:pt x="868143" y="0"/>
                  </a:lnTo>
                  <a:cubicBezTo>
                    <a:pt x="883003" y="0"/>
                    <a:pt x="895049" y="12046"/>
                    <a:pt x="895049" y="26906"/>
                  </a:cubicBezTo>
                  <a:lnTo>
                    <a:pt x="895049" y="538894"/>
                  </a:lnTo>
                  <a:cubicBezTo>
                    <a:pt x="895049" y="553754"/>
                    <a:pt x="883003" y="565801"/>
                    <a:pt x="868143" y="565801"/>
                  </a:cubicBezTo>
                  <a:lnTo>
                    <a:pt x="26906" y="565801"/>
                  </a:lnTo>
                  <a:cubicBezTo>
                    <a:pt x="12046" y="565801"/>
                    <a:pt x="0" y="553754"/>
                    <a:pt x="0" y="538894"/>
                  </a:cubicBezTo>
                  <a:lnTo>
                    <a:pt x="0" y="26906"/>
                  </a:lnTo>
                  <a:cubicBezTo>
                    <a:pt x="0" y="12046"/>
                    <a:pt x="12046" y="0"/>
                    <a:pt x="26906" y="0"/>
                  </a:cubicBezTo>
                  <a:close/>
                </a:path>
              </a:pathLst>
            </a:custGeom>
            <a:solidFill>
              <a:srgbClr val="F8FAFC"/>
            </a:solidFill>
          </p:spPr>
        </p:sp>
        <p:sp>
          <p:nvSpPr>
            <p:cNvPr id="14" name="TextBox 14"/>
            <p:cNvSpPr txBox="1"/>
            <p:nvPr/>
          </p:nvSpPr>
          <p:spPr>
            <a:xfrm>
              <a:off x="0" y="-38100"/>
              <a:ext cx="895049" cy="603901"/>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1386727" y="3459139"/>
            <a:ext cx="6047662" cy="3895964"/>
            <a:chOff x="0" y="0"/>
            <a:chExt cx="914642" cy="589222"/>
          </a:xfrm>
        </p:grpSpPr>
        <p:sp>
          <p:nvSpPr>
            <p:cNvPr id="16" name="Freeform 16"/>
            <p:cNvSpPr/>
            <p:nvPr/>
          </p:nvSpPr>
          <p:spPr>
            <a:xfrm>
              <a:off x="0" y="0"/>
              <a:ext cx="914642" cy="589222"/>
            </a:xfrm>
            <a:custGeom>
              <a:avLst/>
              <a:gdLst/>
              <a:ahLst/>
              <a:cxnLst/>
              <a:rect l="l" t="t" r="r" b="b"/>
              <a:pathLst>
                <a:path w="914642" h="589222">
                  <a:moveTo>
                    <a:pt x="21763" y="0"/>
                  </a:moveTo>
                  <a:lnTo>
                    <a:pt x="892880" y="0"/>
                  </a:lnTo>
                  <a:cubicBezTo>
                    <a:pt x="904899" y="0"/>
                    <a:pt x="914642" y="9743"/>
                    <a:pt x="914642" y="21763"/>
                  </a:cubicBezTo>
                  <a:lnTo>
                    <a:pt x="914642" y="567459"/>
                  </a:lnTo>
                  <a:cubicBezTo>
                    <a:pt x="914642" y="579478"/>
                    <a:pt x="904899" y="589222"/>
                    <a:pt x="892880" y="589222"/>
                  </a:cubicBezTo>
                  <a:lnTo>
                    <a:pt x="21763" y="589222"/>
                  </a:lnTo>
                  <a:cubicBezTo>
                    <a:pt x="9743" y="589222"/>
                    <a:pt x="0" y="579478"/>
                    <a:pt x="0" y="567459"/>
                  </a:cubicBezTo>
                  <a:lnTo>
                    <a:pt x="0" y="21763"/>
                  </a:lnTo>
                  <a:cubicBezTo>
                    <a:pt x="0" y="9743"/>
                    <a:pt x="9743" y="0"/>
                    <a:pt x="21763" y="0"/>
                  </a:cubicBezTo>
                  <a:close/>
                </a:path>
              </a:pathLst>
            </a:custGeom>
            <a:solidFill>
              <a:srgbClr val="10B981"/>
            </a:solidFill>
          </p:spPr>
        </p:sp>
        <p:sp>
          <p:nvSpPr>
            <p:cNvPr id="17" name="TextBox 17"/>
            <p:cNvSpPr txBox="1"/>
            <p:nvPr/>
          </p:nvSpPr>
          <p:spPr>
            <a:xfrm>
              <a:off x="0" y="-38100"/>
              <a:ext cx="914642" cy="627322"/>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1395140" y="3398871"/>
            <a:ext cx="5905440" cy="3741105"/>
            <a:chOff x="0" y="0"/>
            <a:chExt cx="893133" cy="565801"/>
          </a:xfrm>
        </p:grpSpPr>
        <p:sp>
          <p:nvSpPr>
            <p:cNvPr id="19" name="Freeform 19"/>
            <p:cNvSpPr/>
            <p:nvPr/>
          </p:nvSpPr>
          <p:spPr>
            <a:xfrm>
              <a:off x="0" y="0"/>
              <a:ext cx="893132" cy="565801"/>
            </a:xfrm>
            <a:custGeom>
              <a:avLst/>
              <a:gdLst/>
              <a:ahLst/>
              <a:cxnLst/>
              <a:rect l="l" t="t" r="r" b="b"/>
              <a:pathLst>
                <a:path w="893132" h="565801">
                  <a:moveTo>
                    <a:pt x="22287" y="0"/>
                  </a:moveTo>
                  <a:lnTo>
                    <a:pt x="870846" y="0"/>
                  </a:lnTo>
                  <a:cubicBezTo>
                    <a:pt x="876757" y="0"/>
                    <a:pt x="882425" y="2348"/>
                    <a:pt x="886605" y="6528"/>
                  </a:cubicBezTo>
                  <a:cubicBezTo>
                    <a:pt x="890784" y="10707"/>
                    <a:pt x="893132" y="16376"/>
                    <a:pt x="893132" y="22287"/>
                  </a:cubicBezTo>
                  <a:lnTo>
                    <a:pt x="893132" y="543514"/>
                  </a:lnTo>
                  <a:cubicBezTo>
                    <a:pt x="893132" y="555823"/>
                    <a:pt x="883154" y="565801"/>
                    <a:pt x="870846" y="565801"/>
                  </a:cubicBezTo>
                  <a:lnTo>
                    <a:pt x="22287" y="565801"/>
                  </a:lnTo>
                  <a:cubicBezTo>
                    <a:pt x="9978" y="565801"/>
                    <a:pt x="0" y="555823"/>
                    <a:pt x="0" y="543514"/>
                  </a:cubicBezTo>
                  <a:lnTo>
                    <a:pt x="0" y="22287"/>
                  </a:lnTo>
                  <a:cubicBezTo>
                    <a:pt x="0" y="9978"/>
                    <a:pt x="9978" y="0"/>
                    <a:pt x="22287" y="0"/>
                  </a:cubicBezTo>
                  <a:close/>
                </a:path>
              </a:pathLst>
            </a:custGeom>
            <a:solidFill>
              <a:srgbClr val="F8FAFC"/>
            </a:solidFill>
          </p:spPr>
        </p:sp>
        <p:sp>
          <p:nvSpPr>
            <p:cNvPr id="20" name="TextBox 20"/>
            <p:cNvSpPr txBox="1"/>
            <p:nvPr/>
          </p:nvSpPr>
          <p:spPr>
            <a:xfrm>
              <a:off x="0" y="-38100"/>
              <a:ext cx="893133" cy="603901"/>
            </a:xfrm>
            <a:prstGeom prst="rect">
              <a:avLst/>
            </a:prstGeom>
          </p:spPr>
          <p:txBody>
            <a:bodyPr lIns="50800" tIns="50800" rIns="50800" bIns="50800" rtlCol="0" anchor="ctr"/>
            <a:lstStyle/>
            <a:p>
              <a:pPr algn="ctr">
                <a:lnSpc>
                  <a:spcPts val="3499"/>
                </a:lnSpc>
              </a:pPr>
              <a:endParaRPr/>
            </a:p>
          </p:txBody>
        </p:sp>
      </p:grpSp>
      <p:sp>
        <p:nvSpPr>
          <p:cNvPr id="21" name="Freeform 21"/>
          <p:cNvSpPr/>
          <p:nvPr/>
        </p:nvSpPr>
        <p:spPr>
          <a:xfrm>
            <a:off x="6434073" y="4538030"/>
            <a:ext cx="998634" cy="801317"/>
          </a:xfrm>
          <a:custGeom>
            <a:avLst/>
            <a:gdLst/>
            <a:ahLst/>
            <a:cxnLst/>
            <a:rect l="l" t="t" r="r" b="b"/>
            <a:pathLst>
              <a:path w="998634" h="801317">
                <a:moveTo>
                  <a:pt x="0" y="0"/>
                </a:moveTo>
                <a:lnTo>
                  <a:pt x="998634" y="0"/>
                </a:lnTo>
                <a:lnTo>
                  <a:pt x="998634" y="801317"/>
                </a:lnTo>
                <a:lnTo>
                  <a:pt x="0" y="801317"/>
                </a:lnTo>
                <a:lnTo>
                  <a:pt x="0" y="0"/>
                </a:lnTo>
                <a:close/>
              </a:path>
            </a:pathLst>
          </a:custGeom>
          <a:blipFill>
            <a:blip r:embed="rId3"/>
            <a:stretch>
              <a:fillRect t="-4941" b="-4941"/>
            </a:stretch>
          </a:blipFill>
        </p:spPr>
      </p:sp>
      <p:sp>
        <p:nvSpPr>
          <p:cNvPr id="22" name="Freeform 22"/>
          <p:cNvSpPr/>
          <p:nvPr/>
        </p:nvSpPr>
        <p:spPr>
          <a:xfrm>
            <a:off x="11709317" y="3979281"/>
            <a:ext cx="925961" cy="781929"/>
          </a:xfrm>
          <a:custGeom>
            <a:avLst/>
            <a:gdLst/>
            <a:ahLst/>
            <a:cxnLst/>
            <a:rect l="l" t="t" r="r" b="b"/>
            <a:pathLst>
              <a:path w="925961" h="781929">
                <a:moveTo>
                  <a:pt x="0" y="0"/>
                </a:moveTo>
                <a:lnTo>
                  <a:pt x="925961" y="0"/>
                </a:lnTo>
                <a:lnTo>
                  <a:pt x="925961" y="781928"/>
                </a:lnTo>
                <a:lnTo>
                  <a:pt x="0" y="781928"/>
                </a:lnTo>
                <a:lnTo>
                  <a:pt x="0" y="0"/>
                </a:lnTo>
                <a:close/>
              </a:path>
            </a:pathLst>
          </a:custGeom>
          <a:blipFill>
            <a:blip r:embed="rId4"/>
            <a:stretch>
              <a:fillRect t="-4824" b="-4824"/>
            </a:stretch>
          </a:blipFill>
        </p:spPr>
      </p:sp>
      <p:sp>
        <p:nvSpPr>
          <p:cNvPr id="23" name="TextBox 23"/>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24" name="TextBox 24"/>
          <p:cNvSpPr txBox="1"/>
          <p:nvPr/>
        </p:nvSpPr>
        <p:spPr>
          <a:xfrm>
            <a:off x="909197" y="5499037"/>
            <a:ext cx="3133141"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Clustering</a:t>
            </a:r>
          </a:p>
        </p:txBody>
      </p:sp>
      <p:sp>
        <p:nvSpPr>
          <p:cNvPr id="25" name="TextBox 25"/>
          <p:cNvSpPr txBox="1"/>
          <p:nvPr/>
        </p:nvSpPr>
        <p:spPr>
          <a:xfrm>
            <a:off x="6151242" y="5438781"/>
            <a:ext cx="4730427"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Churn (Classification)</a:t>
            </a:r>
          </a:p>
        </p:txBody>
      </p:sp>
      <p:sp>
        <p:nvSpPr>
          <p:cNvPr id="26" name="TextBox 26"/>
          <p:cNvSpPr txBox="1"/>
          <p:nvPr/>
        </p:nvSpPr>
        <p:spPr>
          <a:xfrm>
            <a:off x="11290375" y="4945880"/>
            <a:ext cx="6000680" cy="610308"/>
          </a:xfrm>
          <a:prstGeom prst="rect">
            <a:avLst/>
          </a:prstGeom>
        </p:spPr>
        <p:txBody>
          <a:bodyPr lIns="0" tIns="0" rIns="0" bIns="0" rtlCol="0" anchor="t">
            <a:spAutoFit/>
          </a:bodyPr>
          <a:lstStyle/>
          <a:p>
            <a:pPr algn="ctr">
              <a:lnSpc>
                <a:spcPts val="5081"/>
              </a:lnSpc>
              <a:spcBef>
                <a:spcPct val="0"/>
              </a:spcBef>
            </a:pPr>
            <a:r>
              <a:rPr lang="en-US" sz="3629" b="1">
                <a:solidFill>
                  <a:srgbClr val="000000"/>
                </a:solidFill>
                <a:latin typeface="Montserrat Bold"/>
                <a:ea typeface="Montserrat Bold"/>
                <a:cs typeface="Montserrat Bold"/>
                <a:sym typeface="Montserrat Bold"/>
              </a:rPr>
              <a:t>Spending (Régression)</a:t>
            </a:r>
          </a:p>
        </p:txBody>
      </p:sp>
      <p:sp>
        <p:nvSpPr>
          <p:cNvPr id="27" name="TextBox 27"/>
          <p:cNvSpPr txBox="1"/>
          <p:nvPr/>
        </p:nvSpPr>
        <p:spPr>
          <a:xfrm>
            <a:off x="17397591" y="9182100"/>
            <a:ext cx="261818"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8302" y="3666818"/>
            <a:ext cx="16762624" cy="4441987"/>
            <a:chOff x="0" y="0"/>
            <a:chExt cx="3067245" cy="812800"/>
          </a:xfrm>
        </p:grpSpPr>
        <p:sp>
          <p:nvSpPr>
            <p:cNvPr id="3" name="Freeform 3"/>
            <p:cNvSpPr/>
            <p:nvPr/>
          </p:nvSpPr>
          <p:spPr>
            <a:xfrm>
              <a:off x="0" y="0"/>
              <a:ext cx="3067245" cy="812800"/>
            </a:xfrm>
            <a:custGeom>
              <a:avLst/>
              <a:gdLst/>
              <a:ahLst/>
              <a:cxnLst/>
              <a:rect l="l" t="t" r="r" b="b"/>
              <a:pathLst>
                <a:path w="3067245" h="812800">
                  <a:moveTo>
                    <a:pt x="7852" y="0"/>
                  </a:moveTo>
                  <a:lnTo>
                    <a:pt x="3059393" y="0"/>
                  </a:lnTo>
                  <a:cubicBezTo>
                    <a:pt x="3063729" y="0"/>
                    <a:pt x="3067245" y="3515"/>
                    <a:pt x="3067245" y="7852"/>
                  </a:cubicBezTo>
                  <a:lnTo>
                    <a:pt x="3067245" y="804948"/>
                  </a:lnTo>
                  <a:cubicBezTo>
                    <a:pt x="3067245" y="807031"/>
                    <a:pt x="3066417" y="809028"/>
                    <a:pt x="3064945" y="810500"/>
                  </a:cubicBezTo>
                  <a:cubicBezTo>
                    <a:pt x="3063473" y="811973"/>
                    <a:pt x="3061476" y="812800"/>
                    <a:pt x="3059393" y="812800"/>
                  </a:cubicBezTo>
                  <a:lnTo>
                    <a:pt x="7852" y="812800"/>
                  </a:lnTo>
                  <a:cubicBezTo>
                    <a:pt x="3515" y="812800"/>
                    <a:pt x="0" y="809285"/>
                    <a:pt x="0" y="804948"/>
                  </a:cubicBezTo>
                  <a:lnTo>
                    <a:pt x="0" y="7852"/>
                  </a:lnTo>
                  <a:cubicBezTo>
                    <a:pt x="0" y="3515"/>
                    <a:pt x="3515" y="0"/>
                    <a:pt x="7852" y="0"/>
                  </a:cubicBezTo>
                  <a:close/>
                </a:path>
              </a:pathLst>
            </a:custGeom>
            <a:solidFill>
              <a:srgbClr val="10B981"/>
            </a:solidFill>
          </p:spPr>
        </p:sp>
        <p:sp>
          <p:nvSpPr>
            <p:cNvPr id="4" name="TextBox 4"/>
            <p:cNvSpPr txBox="1"/>
            <p:nvPr/>
          </p:nvSpPr>
          <p:spPr>
            <a:xfrm>
              <a:off x="0" y="-38100"/>
              <a:ext cx="3067245" cy="850900"/>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757075" y="3595258"/>
            <a:ext cx="16773851" cy="4441987"/>
            <a:chOff x="0" y="0"/>
            <a:chExt cx="3069299" cy="812800"/>
          </a:xfrm>
        </p:grpSpPr>
        <p:sp>
          <p:nvSpPr>
            <p:cNvPr id="6" name="Freeform 6"/>
            <p:cNvSpPr/>
            <p:nvPr/>
          </p:nvSpPr>
          <p:spPr>
            <a:xfrm>
              <a:off x="0" y="0"/>
              <a:ext cx="3069299" cy="812800"/>
            </a:xfrm>
            <a:custGeom>
              <a:avLst/>
              <a:gdLst/>
              <a:ahLst/>
              <a:cxnLst/>
              <a:rect l="l" t="t" r="r" b="b"/>
              <a:pathLst>
                <a:path w="3069299" h="812800">
                  <a:moveTo>
                    <a:pt x="7846" y="0"/>
                  </a:moveTo>
                  <a:lnTo>
                    <a:pt x="3061453" y="0"/>
                  </a:lnTo>
                  <a:cubicBezTo>
                    <a:pt x="3063534" y="0"/>
                    <a:pt x="3065530" y="827"/>
                    <a:pt x="3067001" y="2298"/>
                  </a:cubicBezTo>
                  <a:cubicBezTo>
                    <a:pt x="3068472" y="3770"/>
                    <a:pt x="3069299" y="5765"/>
                    <a:pt x="3069299" y="7846"/>
                  </a:cubicBezTo>
                  <a:lnTo>
                    <a:pt x="3069299" y="804954"/>
                  </a:lnTo>
                  <a:cubicBezTo>
                    <a:pt x="3069299" y="807035"/>
                    <a:pt x="3068472" y="809030"/>
                    <a:pt x="3067001" y="810502"/>
                  </a:cubicBezTo>
                  <a:cubicBezTo>
                    <a:pt x="3065530" y="811973"/>
                    <a:pt x="3063534" y="812800"/>
                    <a:pt x="3061453" y="812800"/>
                  </a:cubicBezTo>
                  <a:lnTo>
                    <a:pt x="7846" y="812800"/>
                  </a:lnTo>
                  <a:cubicBezTo>
                    <a:pt x="5765" y="812800"/>
                    <a:pt x="3770" y="811973"/>
                    <a:pt x="2298" y="810502"/>
                  </a:cubicBezTo>
                  <a:cubicBezTo>
                    <a:pt x="827" y="809030"/>
                    <a:pt x="0" y="807035"/>
                    <a:pt x="0" y="804954"/>
                  </a:cubicBezTo>
                  <a:lnTo>
                    <a:pt x="0" y="7846"/>
                  </a:lnTo>
                  <a:cubicBezTo>
                    <a:pt x="0" y="5765"/>
                    <a:pt x="827" y="3770"/>
                    <a:pt x="2298" y="2298"/>
                  </a:cubicBezTo>
                  <a:cubicBezTo>
                    <a:pt x="3770" y="827"/>
                    <a:pt x="5765" y="0"/>
                    <a:pt x="7846" y="0"/>
                  </a:cubicBezTo>
                  <a:close/>
                </a:path>
              </a:pathLst>
            </a:custGeom>
            <a:solidFill>
              <a:srgbClr val="F8FAFC"/>
            </a:solidFill>
          </p:spPr>
        </p:sp>
        <p:sp>
          <p:nvSpPr>
            <p:cNvPr id="7" name="TextBox 7"/>
            <p:cNvSpPr txBox="1"/>
            <p:nvPr/>
          </p:nvSpPr>
          <p:spPr>
            <a:xfrm>
              <a:off x="0" y="-38100"/>
              <a:ext cx="3069299" cy="850900"/>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9" name="TextBox 9"/>
          <p:cNvSpPr txBox="1"/>
          <p:nvPr/>
        </p:nvSpPr>
        <p:spPr>
          <a:xfrm>
            <a:off x="1028700" y="4857750"/>
            <a:ext cx="4792343"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Montserrat Bold"/>
                <a:ea typeface="Montserrat Bold"/>
                <a:cs typeface="Montserrat Bold"/>
                <a:sym typeface="Montserrat Bold"/>
              </a:rPr>
              <a:t>Spending (Régression)</a:t>
            </a:r>
          </a:p>
        </p:txBody>
      </p:sp>
      <p:sp>
        <p:nvSpPr>
          <p:cNvPr id="10" name="TextBox 10"/>
          <p:cNvSpPr txBox="1"/>
          <p:nvPr/>
        </p:nvSpPr>
        <p:spPr>
          <a:xfrm>
            <a:off x="1145109" y="5980329"/>
            <a:ext cx="10745735"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Prédire le potentiel d'achat futur (MonetaryTotal).</a:t>
            </a:r>
          </a:p>
        </p:txBody>
      </p:sp>
      <p:sp>
        <p:nvSpPr>
          <p:cNvPr id="11" name="Freeform 11"/>
          <p:cNvSpPr/>
          <p:nvPr/>
        </p:nvSpPr>
        <p:spPr>
          <a:xfrm>
            <a:off x="1245710" y="3928634"/>
            <a:ext cx="765332" cy="646285"/>
          </a:xfrm>
          <a:custGeom>
            <a:avLst/>
            <a:gdLst/>
            <a:ahLst/>
            <a:cxnLst/>
            <a:rect l="l" t="t" r="r" b="b"/>
            <a:pathLst>
              <a:path w="765332" h="646285">
                <a:moveTo>
                  <a:pt x="0" y="0"/>
                </a:moveTo>
                <a:lnTo>
                  <a:pt x="765332" y="0"/>
                </a:lnTo>
                <a:lnTo>
                  <a:pt x="765332" y="646286"/>
                </a:lnTo>
                <a:lnTo>
                  <a:pt x="0" y="646286"/>
                </a:lnTo>
                <a:lnTo>
                  <a:pt x="0" y="0"/>
                </a:lnTo>
                <a:close/>
              </a:path>
            </a:pathLst>
          </a:custGeom>
          <a:blipFill>
            <a:blip r:embed="rId2"/>
            <a:stretch>
              <a:fillRect t="-4824" b="-4824"/>
            </a:stretch>
          </a:blipFill>
        </p:spPr>
      </p:sp>
      <p:sp>
        <p:nvSpPr>
          <p:cNvPr id="12" name="TextBox 12"/>
          <p:cNvSpPr txBox="1"/>
          <p:nvPr/>
        </p:nvSpPr>
        <p:spPr>
          <a:xfrm>
            <a:off x="17386697" y="9182100"/>
            <a:ext cx="283607"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4216" y="585615"/>
            <a:ext cx="7792284"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Vision &amp; Objectifs</a:t>
            </a:r>
          </a:p>
        </p:txBody>
      </p:sp>
      <p:sp>
        <p:nvSpPr>
          <p:cNvPr id="3" name="TextBox 3"/>
          <p:cNvSpPr txBox="1"/>
          <p:nvPr/>
        </p:nvSpPr>
        <p:spPr>
          <a:xfrm>
            <a:off x="624216" y="2856211"/>
            <a:ext cx="10729584" cy="498983"/>
          </a:xfrm>
          <a:prstGeom prst="rect">
            <a:avLst/>
          </a:prstGeom>
        </p:spPr>
        <p:txBody>
          <a:bodyPr wrap="square" lIns="0" tIns="0" rIns="0" bIns="0" rtlCol="0" anchor="t">
            <a:spAutoFit/>
          </a:bodyPr>
          <a:lstStyle/>
          <a:p>
            <a:pPr algn="ctr">
              <a:lnSpc>
                <a:spcPts val="4199"/>
              </a:lnSpc>
              <a:spcBef>
                <a:spcPct val="0"/>
              </a:spcBef>
            </a:pPr>
            <a:r>
              <a:rPr lang="en-US" sz="2999" b="1" dirty="0" err="1">
                <a:solidFill>
                  <a:srgbClr val="10B981"/>
                </a:solidFill>
                <a:latin typeface="Montserrat Bold"/>
                <a:ea typeface="Montserrat Bold"/>
                <a:cs typeface="Montserrat Bold"/>
                <a:sym typeface="Montserrat Bold"/>
              </a:rPr>
              <a:t>Intérêt</a:t>
            </a:r>
            <a:r>
              <a:rPr lang="en-US" sz="2999" b="1" dirty="0">
                <a:solidFill>
                  <a:srgbClr val="10B981"/>
                </a:solidFill>
                <a:latin typeface="Montserrat Bold"/>
                <a:ea typeface="Montserrat Bold"/>
                <a:cs typeface="Montserrat Bold"/>
                <a:sym typeface="Montserrat Bold"/>
              </a:rPr>
              <a:t> business pour </a:t>
            </a:r>
            <a:r>
              <a:rPr lang="en-US" sz="2999" b="1" dirty="0" err="1">
                <a:solidFill>
                  <a:srgbClr val="10B981"/>
                </a:solidFill>
                <a:latin typeface="Montserrat Bold"/>
                <a:ea typeface="Montserrat Bold"/>
                <a:cs typeface="Montserrat Bold"/>
                <a:sym typeface="Montserrat Bold"/>
              </a:rPr>
              <a:t>une</a:t>
            </a:r>
            <a:r>
              <a:rPr lang="en-US" sz="2999" b="1" dirty="0">
                <a:solidFill>
                  <a:srgbClr val="10B981"/>
                </a:solidFill>
                <a:latin typeface="Montserrat Bold"/>
                <a:ea typeface="Montserrat Bold"/>
                <a:cs typeface="Montserrat Bold"/>
                <a:sym typeface="Montserrat Bold"/>
              </a:rPr>
              <a:t> </a:t>
            </a:r>
            <a:r>
              <a:rPr lang="en-US" sz="2999" b="1" dirty="0" err="1">
                <a:solidFill>
                  <a:srgbClr val="10B981"/>
                </a:solidFill>
                <a:latin typeface="Montserrat Bold"/>
                <a:ea typeface="Montserrat Bold"/>
                <a:cs typeface="Montserrat Bold"/>
                <a:sym typeface="Montserrat Bold"/>
              </a:rPr>
              <a:t>entreprise</a:t>
            </a:r>
            <a:r>
              <a:rPr lang="en-US" sz="2999" b="1" dirty="0">
                <a:solidFill>
                  <a:srgbClr val="10B981"/>
                </a:solidFill>
                <a:latin typeface="Montserrat Bold"/>
                <a:ea typeface="Montserrat Bold"/>
                <a:cs typeface="Montserrat Bold"/>
                <a:sym typeface="Montserrat Bold"/>
              </a:rPr>
              <a:t> e-commerce</a:t>
            </a:r>
          </a:p>
        </p:txBody>
      </p:sp>
      <p:sp>
        <p:nvSpPr>
          <p:cNvPr id="4" name="TextBox 4"/>
          <p:cNvSpPr txBox="1"/>
          <p:nvPr/>
        </p:nvSpPr>
        <p:spPr>
          <a:xfrm>
            <a:off x="1028700" y="4131187"/>
            <a:ext cx="17132840" cy="31813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Montserrat Bold"/>
                <a:ea typeface="Montserrat Bold"/>
                <a:cs typeface="Montserrat Bold"/>
                <a:sym typeface="Montserrat Bold"/>
              </a:rPr>
              <a:t>Prédire le churn </a:t>
            </a:r>
            <a:r>
              <a:rPr lang="en-US" sz="3000">
                <a:solidFill>
                  <a:srgbClr val="000000"/>
                </a:solidFill>
                <a:latin typeface="Montserrat"/>
                <a:ea typeface="Montserrat"/>
                <a:cs typeface="Montserrat"/>
                <a:sym typeface="Montserrat"/>
              </a:rPr>
              <a:t>permet d'activer des campagnes de fidélisation ciblées avant la perte du client, réduisant ainsi l'attrition et préservant le chiffre d'affaires. </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Estimer les dépenses futures et segmenter automatiquement la clientèle</a:t>
            </a:r>
            <a:r>
              <a:rPr lang="en-US" sz="3000">
                <a:solidFill>
                  <a:srgbClr val="000000"/>
                </a:solidFill>
                <a:latin typeface="Montserrat"/>
                <a:ea typeface="Montserrat"/>
                <a:cs typeface="Montserrat"/>
                <a:sym typeface="Montserrat"/>
              </a:rPr>
              <a:t> permet d'allouer le budget marketing aux bons profils avec des offres personnalisées, maximisant ainsi le ROI des actions marketing.</a:t>
            </a:r>
          </a:p>
        </p:txBody>
      </p:sp>
      <p:sp>
        <p:nvSpPr>
          <p:cNvPr id="5" name="Freeform 5"/>
          <p:cNvSpPr/>
          <p:nvPr/>
        </p:nvSpPr>
        <p:spPr>
          <a:xfrm>
            <a:off x="291350" y="4054987"/>
            <a:ext cx="665731" cy="669382"/>
          </a:xfrm>
          <a:custGeom>
            <a:avLst/>
            <a:gdLst/>
            <a:ahLst/>
            <a:cxnLst/>
            <a:rect l="l" t="t" r="r" b="b"/>
            <a:pathLst>
              <a:path w="665731" h="669382">
                <a:moveTo>
                  <a:pt x="0" y="0"/>
                </a:moveTo>
                <a:lnTo>
                  <a:pt x="665731" y="0"/>
                </a:lnTo>
                <a:lnTo>
                  <a:pt x="665731" y="669382"/>
                </a:lnTo>
                <a:lnTo>
                  <a:pt x="0" y="669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91350" y="5610194"/>
            <a:ext cx="665731" cy="669382"/>
          </a:xfrm>
          <a:custGeom>
            <a:avLst/>
            <a:gdLst/>
            <a:ahLst/>
            <a:cxnLst/>
            <a:rect l="l" t="t" r="r" b="b"/>
            <a:pathLst>
              <a:path w="665731" h="669382">
                <a:moveTo>
                  <a:pt x="0" y="0"/>
                </a:moveTo>
                <a:lnTo>
                  <a:pt x="665731" y="0"/>
                </a:lnTo>
                <a:lnTo>
                  <a:pt x="665731" y="669382"/>
                </a:lnTo>
                <a:lnTo>
                  <a:pt x="0" y="669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7393126" y="9182100"/>
            <a:ext cx="270748"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4674" y="3201962"/>
            <a:ext cx="1105709" cy="876942"/>
          </a:xfrm>
          <a:custGeom>
            <a:avLst/>
            <a:gdLst/>
            <a:ahLst/>
            <a:cxnLst/>
            <a:rect l="l" t="t" r="r" b="b"/>
            <a:pathLst>
              <a:path w="1105709" h="876942">
                <a:moveTo>
                  <a:pt x="0" y="0"/>
                </a:moveTo>
                <a:lnTo>
                  <a:pt x="1105709" y="0"/>
                </a:lnTo>
                <a:lnTo>
                  <a:pt x="1105709" y="876942"/>
                </a:lnTo>
                <a:lnTo>
                  <a:pt x="0" y="876942"/>
                </a:lnTo>
                <a:lnTo>
                  <a:pt x="0" y="0"/>
                </a:lnTo>
                <a:close/>
              </a:path>
            </a:pathLst>
          </a:custGeom>
          <a:blipFill>
            <a:blip r:embed="rId2"/>
            <a:stretch>
              <a:fillRect/>
            </a:stretch>
          </a:blipFill>
        </p:spPr>
      </p:sp>
      <p:sp>
        <p:nvSpPr>
          <p:cNvPr id="3" name="Freeform 3"/>
          <p:cNvSpPr/>
          <p:nvPr/>
        </p:nvSpPr>
        <p:spPr>
          <a:xfrm>
            <a:off x="638485" y="6284216"/>
            <a:ext cx="1364662" cy="1222085"/>
          </a:xfrm>
          <a:custGeom>
            <a:avLst/>
            <a:gdLst/>
            <a:ahLst/>
            <a:cxnLst/>
            <a:rect l="l" t="t" r="r" b="b"/>
            <a:pathLst>
              <a:path w="1364662" h="1222085">
                <a:moveTo>
                  <a:pt x="0" y="0"/>
                </a:moveTo>
                <a:lnTo>
                  <a:pt x="1364662" y="0"/>
                </a:lnTo>
                <a:lnTo>
                  <a:pt x="1364662" y="1222085"/>
                </a:lnTo>
                <a:lnTo>
                  <a:pt x="0" y="1222085"/>
                </a:lnTo>
                <a:lnTo>
                  <a:pt x="0" y="0"/>
                </a:lnTo>
                <a:close/>
              </a:path>
            </a:pathLst>
          </a:custGeom>
          <a:blipFill>
            <a:blip r:embed="rId3"/>
            <a:stretch>
              <a:fillRect/>
            </a:stretch>
          </a:blipFill>
        </p:spPr>
      </p:sp>
      <p:sp>
        <p:nvSpPr>
          <p:cNvPr id="4" name="Freeform 4"/>
          <p:cNvSpPr/>
          <p:nvPr/>
        </p:nvSpPr>
        <p:spPr>
          <a:xfrm>
            <a:off x="774374" y="7336999"/>
            <a:ext cx="1092884" cy="1092884"/>
          </a:xfrm>
          <a:custGeom>
            <a:avLst/>
            <a:gdLst/>
            <a:ahLst/>
            <a:cxnLst/>
            <a:rect l="l" t="t" r="r" b="b"/>
            <a:pathLst>
              <a:path w="1092884" h="1092884">
                <a:moveTo>
                  <a:pt x="0" y="0"/>
                </a:moveTo>
                <a:lnTo>
                  <a:pt x="1092884" y="0"/>
                </a:lnTo>
                <a:lnTo>
                  <a:pt x="1092884" y="1092884"/>
                </a:lnTo>
                <a:lnTo>
                  <a:pt x="0" y="1092884"/>
                </a:lnTo>
                <a:lnTo>
                  <a:pt x="0" y="0"/>
                </a:lnTo>
                <a:close/>
              </a:path>
            </a:pathLst>
          </a:custGeom>
          <a:blipFill>
            <a:blip r:embed="rId4"/>
            <a:stretch>
              <a:fillRect/>
            </a:stretch>
          </a:blipFill>
        </p:spPr>
      </p:sp>
      <p:sp>
        <p:nvSpPr>
          <p:cNvPr id="5" name="Freeform 5"/>
          <p:cNvSpPr/>
          <p:nvPr/>
        </p:nvSpPr>
        <p:spPr>
          <a:xfrm>
            <a:off x="1025835" y="4372908"/>
            <a:ext cx="609013" cy="709655"/>
          </a:xfrm>
          <a:custGeom>
            <a:avLst/>
            <a:gdLst/>
            <a:ahLst/>
            <a:cxnLst/>
            <a:rect l="l" t="t" r="r" b="b"/>
            <a:pathLst>
              <a:path w="609013" h="709655">
                <a:moveTo>
                  <a:pt x="0" y="0"/>
                </a:moveTo>
                <a:lnTo>
                  <a:pt x="609013" y="0"/>
                </a:lnTo>
                <a:lnTo>
                  <a:pt x="609013" y="709655"/>
                </a:lnTo>
                <a:lnTo>
                  <a:pt x="0" y="709655"/>
                </a:lnTo>
                <a:lnTo>
                  <a:pt x="0" y="0"/>
                </a:lnTo>
                <a:close/>
              </a:path>
            </a:pathLst>
          </a:custGeom>
          <a:blipFill>
            <a:blip r:embed="rId5"/>
            <a:stretch>
              <a:fillRect/>
            </a:stretch>
          </a:blipFill>
          <a:ln cap="sq">
            <a:noFill/>
            <a:prstDash val="solid"/>
            <a:miter/>
          </a:ln>
        </p:spPr>
      </p:sp>
      <p:sp>
        <p:nvSpPr>
          <p:cNvPr id="6" name="TextBox 6"/>
          <p:cNvSpPr txBox="1"/>
          <p:nvPr/>
        </p:nvSpPr>
        <p:spPr>
          <a:xfrm>
            <a:off x="619435" y="365125"/>
            <a:ext cx="15190823" cy="119380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Open Sans Bold"/>
                <a:ea typeface="Open Sans Bold"/>
                <a:cs typeface="Open Sans Bold"/>
                <a:sym typeface="Open Sans Bold"/>
              </a:rPr>
              <a:t>Stratégie &amp; Feature Engineering</a:t>
            </a:r>
          </a:p>
        </p:txBody>
      </p:sp>
      <p:sp>
        <p:nvSpPr>
          <p:cNvPr id="7" name="TextBox 7"/>
          <p:cNvSpPr txBox="1"/>
          <p:nvPr/>
        </p:nvSpPr>
        <p:spPr>
          <a:xfrm>
            <a:off x="2010383" y="2843200"/>
            <a:ext cx="15541033" cy="6915150"/>
          </a:xfrm>
          <a:prstGeom prst="rect">
            <a:avLst/>
          </a:prstGeom>
        </p:spPr>
        <p:txBody>
          <a:bodyPr lIns="0" tIns="0" rIns="0" bIns="0" rtlCol="0" anchor="t">
            <a:spAutoFit/>
          </a:bodyPr>
          <a:lstStyle/>
          <a:p>
            <a:pPr algn="l">
              <a:lnSpc>
                <a:spcPts val="4200"/>
              </a:lnSpc>
              <a:spcBef>
                <a:spcPct val="0"/>
              </a:spcBef>
            </a:pPr>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Nettoyage :</a:t>
            </a:r>
            <a:r>
              <a:rPr lang="en-US" sz="3000">
                <a:solidFill>
                  <a:srgbClr val="000000"/>
                </a:solidFill>
                <a:latin typeface="Montserrat"/>
                <a:ea typeface="Montserrat"/>
                <a:cs typeface="Montserrat"/>
                <a:sym typeface="Montserrat"/>
              </a:rPr>
              <a:t> Gestion des valeurs manquantes et outliers (Isolation Forest).</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Semi-Bold"/>
                <a:ea typeface="Montserrat Semi-Bold"/>
                <a:cs typeface="Montserrat Semi-Bold"/>
                <a:sym typeface="Montserrat Semi-Bold"/>
              </a:rPr>
              <a:t>Feature selection :</a:t>
            </a:r>
            <a:r>
              <a:rPr lang="en-US" sz="3000">
                <a:solidFill>
                  <a:srgbClr val="000000"/>
                </a:solidFill>
                <a:latin typeface="Montserrat"/>
                <a:ea typeface="Montserrat"/>
                <a:cs typeface="Montserrat"/>
                <a:sym typeface="Montserrat"/>
              </a:rPr>
              <a:t> Suppression des colonnes redondantes ou non prédictives pour éviter la fuite de données, permettant ainsi une PCA plus efficace et garantissant un modèle qui généralise bien.</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PCA (Analyse en Composantes Principales) :</a:t>
            </a:r>
            <a:r>
              <a:rPr lang="en-US" sz="3000">
                <a:solidFill>
                  <a:srgbClr val="000000"/>
                </a:solidFill>
                <a:latin typeface="Montserrat"/>
                <a:ea typeface="Montserrat"/>
                <a:cs typeface="Montserrat"/>
                <a:sym typeface="Montserrat"/>
              </a:rPr>
              <a:t> Réduction à 10 composantes.</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Équilibrage : </a:t>
            </a:r>
            <a:r>
              <a:rPr lang="en-US" sz="3000">
                <a:solidFill>
                  <a:srgbClr val="000000"/>
                </a:solidFill>
                <a:latin typeface="Montserrat"/>
                <a:ea typeface="Montserrat"/>
                <a:cs typeface="Montserrat"/>
                <a:sym typeface="Montserrat"/>
              </a:rPr>
              <a:t>Utilisation de SMOTE pour la classe minoritaire.</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endParaRPr lang="en-US" sz="3000">
              <a:solidFill>
                <a:srgbClr val="000000"/>
              </a:solidFill>
              <a:latin typeface="Montserrat"/>
              <a:ea typeface="Montserrat"/>
              <a:cs typeface="Montserrat"/>
              <a:sym typeface="Montserrat"/>
            </a:endParaRPr>
          </a:p>
        </p:txBody>
      </p:sp>
      <p:sp>
        <p:nvSpPr>
          <p:cNvPr id="8" name="TextBox 8"/>
          <p:cNvSpPr txBox="1"/>
          <p:nvPr/>
        </p:nvSpPr>
        <p:spPr>
          <a:xfrm>
            <a:off x="17301150" y="9182100"/>
            <a:ext cx="454700"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10</a:t>
            </a:r>
          </a:p>
        </p:txBody>
      </p:sp>
      <p:sp>
        <p:nvSpPr>
          <p:cNvPr id="9" name="TextBox 9"/>
          <p:cNvSpPr txBox="1"/>
          <p:nvPr/>
        </p:nvSpPr>
        <p:spPr>
          <a:xfrm>
            <a:off x="0" y="1824025"/>
            <a:ext cx="8953762" cy="514350"/>
          </a:xfrm>
          <a:prstGeom prst="rect">
            <a:avLst/>
          </a:prstGeom>
        </p:spPr>
        <p:txBody>
          <a:bodyPr lIns="0" tIns="0" rIns="0" bIns="0" rtlCol="0" anchor="t">
            <a:spAutoFit/>
          </a:bodyPr>
          <a:lstStyle/>
          <a:p>
            <a:pPr algn="ctr">
              <a:lnSpc>
                <a:spcPts val="4200"/>
              </a:lnSpc>
              <a:spcBef>
                <a:spcPct val="0"/>
              </a:spcBef>
            </a:pPr>
            <a:r>
              <a:rPr lang="en-US" sz="3000" b="1">
                <a:solidFill>
                  <a:srgbClr val="10B981"/>
                </a:solidFill>
                <a:latin typeface="Open Sans Bold"/>
                <a:ea typeface="Open Sans Bold"/>
                <a:cs typeface="Open Sans Bold"/>
                <a:sym typeface="Open Sans Bold"/>
              </a:rPr>
              <a:t>Prétraitement pour la classification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4674" y="2435212"/>
            <a:ext cx="1105709" cy="876942"/>
          </a:xfrm>
          <a:custGeom>
            <a:avLst/>
            <a:gdLst/>
            <a:ahLst/>
            <a:cxnLst/>
            <a:rect l="l" t="t" r="r" b="b"/>
            <a:pathLst>
              <a:path w="1105709" h="876942">
                <a:moveTo>
                  <a:pt x="0" y="0"/>
                </a:moveTo>
                <a:lnTo>
                  <a:pt x="1105709" y="0"/>
                </a:lnTo>
                <a:lnTo>
                  <a:pt x="1105709" y="876942"/>
                </a:lnTo>
                <a:lnTo>
                  <a:pt x="0" y="876942"/>
                </a:lnTo>
                <a:lnTo>
                  <a:pt x="0" y="0"/>
                </a:lnTo>
                <a:close/>
              </a:path>
            </a:pathLst>
          </a:custGeom>
          <a:blipFill>
            <a:blip r:embed="rId2"/>
            <a:stretch>
              <a:fillRect/>
            </a:stretch>
          </a:blipFill>
        </p:spPr>
      </p:sp>
      <p:sp>
        <p:nvSpPr>
          <p:cNvPr id="3" name="Freeform 3"/>
          <p:cNvSpPr/>
          <p:nvPr/>
        </p:nvSpPr>
        <p:spPr>
          <a:xfrm>
            <a:off x="786765" y="5035208"/>
            <a:ext cx="1092884" cy="1092884"/>
          </a:xfrm>
          <a:custGeom>
            <a:avLst/>
            <a:gdLst/>
            <a:ahLst/>
            <a:cxnLst/>
            <a:rect l="l" t="t" r="r" b="b"/>
            <a:pathLst>
              <a:path w="1092884" h="1092884">
                <a:moveTo>
                  <a:pt x="0" y="0"/>
                </a:moveTo>
                <a:lnTo>
                  <a:pt x="1092883" y="0"/>
                </a:lnTo>
                <a:lnTo>
                  <a:pt x="1092883" y="1092884"/>
                </a:lnTo>
                <a:lnTo>
                  <a:pt x="0" y="1092884"/>
                </a:lnTo>
                <a:lnTo>
                  <a:pt x="0" y="0"/>
                </a:lnTo>
                <a:close/>
              </a:path>
            </a:pathLst>
          </a:custGeom>
          <a:blipFill>
            <a:blip r:embed="rId3"/>
            <a:stretch>
              <a:fillRect/>
            </a:stretch>
          </a:blipFill>
        </p:spPr>
      </p:sp>
      <p:sp>
        <p:nvSpPr>
          <p:cNvPr id="4" name="Freeform 4"/>
          <p:cNvSpPr/>
          <p:nvPr/>
        </p:nvSpPr>
        <p:spPr>
          <a:xfrm>
            <a:off x="1028700" y="4059983"/>
            <a:ext cx="609013" cy="709655"/>
          </a:xfrm>
          <a:custGeom>
            <a:avLst/>
            <a:gdLst/>
            <a:ahLst/>
            <a:cxnLst/>
            <a:rect l="l" t="t" r="r" b="b"/>
            <a:pathLst>
              <a:path w="609013" h="709655">
                <a:moveTo>
                  <a:pt x="0" y="0"/>
                </a:moveTo>
                <a:lnTo>
                  <a:pt x="609013" y="0"/>
                </a:lnTo>
                <a:lnTo>
                  <a:pt x="609013" y="709655"/>
                </a:lnTo>
                <a:lnTo>
                  <a:pt x="0" y="709655"/>
                </a:lnTo>
                <a:lnTo>
                  <a:pt x="0" y="0"/>
                </a:lnTo>
                <a:close/>
              </a:path>
            </a:pathLst>
          </a:custGeom>
          <a:blipFill>
            <a:blip r:embed="rId4"/>
            <a:stretch>
              <a:fillRect/>
            </a:stretch>
          </a:blipFill>
          <a:ln cap="sq">
            <a:noFill/>
            <a:prstDash val="solid"/>
            <a:miter/>
          </a:ln>
        </p:spPr>
      </p:sp>
      <p:sp>
        <p:nvSpPr>
          <p:cNvPr id="5" name="TextBox 5"/>
          <p:cNvSpPr txBox="1"/>
          <p:nvPr/>
        </p:nvSpPr>
        <p:spPr>
          <a:xfrm>
            <a:off x="2010383" y="2076450"/>
            <a:ext cx="15541033" cy="8515350"/>
          </a:xfrm>
          <a:prstGeom prst="rect">
            <a:avLst/>
          </a:prstGeom>
        </p:spPr>
        <p:txBody>
          <a:bodyPr lIns="0" tIns="0" rIns="0" bIns="0" rtlCol="0" anchor="t">
            <a:spAutoFit/>
          </a:bodyPr>
          <a:lstStyle/>
          <a:p>
            <a:pPr algn="l">
              <a:lnSpc>
                <a:spcPts val="4200"/>
              </a:lnSpc>
              <a:spcBef>
                <a:spcPct val="0"/>
              </a:spcBef>
            </a:pPr>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Nettoyage :</a:t>
            </a:r>
            <a:r>
              <a:rPr lang="en-US" sz="3000">
                <a:solidFill>
                  <a:srgbClr val="000000"/>
                </a:solidFill>
                <a:latin typeface="Montserrat"/>
                <a:ea typeface="Montserrat"/>
                <a:cs typeface="Montserrat"/>
                <a:sym typeface="Montserrat"/>
              </a:rPr>
              <a:t> Traitement des outliers sur la cible (MonetaryTotal) avec clipping au percentile 99.</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Feature selection : </a:t>
            </a:r>
            <a:r>
              <a:rPr lang="en-US" sz="3000">
                <a:solidFill>
                  <a:srgbClr val="000000"/>
                </a:solidFill>
                <a:latin typeface="Montserrat"/>
                <a:ea typeface="Montserrat"/>
                <a:cs typeface="Montserrat"/>
                <a:sym typeface="Montserrat"/>
              </a:rPr>
              <a:t>Sélection uniquement des colonnes numériques.</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Standardisation des features : </a:t>
            </a:r>
            <a:r>
              <a:rPr lang="en-US" sz="3000">
                <a:solidFill>
                  <a:srgbClr val="000000"/>
                </a:solidFill>
                <a:latin typeface="Montserrat"/>
                <a:ea typeface="Montserrat"/>
                <a:cs typeface="Montserrat"/>
                <a:sym typeface="Montserrat"/>
              </a:rPr>
              <a:t>La standardisation met toutes les features sur la même échelle, permettant au modèle de comparer équitablement l'influence réelle de chaque variable sur la prédiction.</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Split train/test (80/20) </a:t>
            </a:r>
          </a:p>
          <a:p>
            <a:pPr algn="l">
              <a:lnSpc>
                <a:spcPts val="4200"/>
              </a:lnSpc>
              <a:spcBef>
                <a:spcPct val="0"/>
              </a:spcBef>
            </a:pPr>
            <a:endParaRPr lang="en-US" sz="3000" b="1">
              <a:solidFill>
                <a:srgbClr val="000000"/>
              </a:solidFill>
              <a:latin typeface="Montserrat Bold"/>
              <a:ea typeface="Montserrat Bold"/>
              <a:cs typeface="Montserrat Bold"/>
              <a:sym typeface="Montserrat Bold"/>
            </a:endParaRPr>
          </a:p>
          <a:p>
            <a:pPr algn="l">
              <a:lnSpc>
                <a:spcPts val="4200"/>
              </a:lnSpc>
              <a:spcBef>
                <a:spcPct val="0"/>
              </a:spcBef>
            </a:pPr>
            <a:r>
              <a:rPr lang="en-US" sz="3000" b="1">
                <a:solidFill>
                  <a:srgbClr val="000000"/>
                </a:solidFill>
                <a:latin typeface="Montserrat Bold"/>
                <a:ea typeface="Montserrat Bold"/>
                <a:cs typeface="Montserrat Bold"/>
                <a:sym typeface="Montserrat Bold"/>
              </a:rPr>
              <a:t>Transformation logarithmique : </a:t>
            </a:r>
            <a:r>
              <a:rPr lang="en-US" sz="3000">
                <a:solidFill>
                  <a:srgbClr val="000000"/>
                </a:solidFill>
                <a:latin typeface="Montserrat"/>
                <a:ea typeface="Montserrat"/>
                <a:cs typeface="Montserrat"/>
                <a:sym typeface="Montserrat"/>
              </a:rPr>
              <a:t>rend la distribution des dépenses symétrique, ce qui améliore la stabilité et la performance du modèle de régression.</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endParaRPr lang="en-US" sz="3000">
              <a:solidFill>
                <a:srgbClr val="000000"/>
              </a:solidFill>
              <a:latin typeface="Montserrat"/>
              <a:ea typeface="Montserrat"/>
              <a:cs typeface="Montserrat"/>
              <a:sym typeface="Montserrat"/>
            </a:endParaRPr>
          </a:p>
        </p:txBody>
      </p:sp>
      <p:sp>
        <p:nvSpPr>
          <p:cNvPr id="6" name="Freeform 6"/>
          <p:cNvSpPr/>
          <p:nvPr/>
        </p:nvSpPr>
        <p:spPr>
          <a:xfrm>
            <a:off x="1028700" y="7310344"/>
            <a:ext cx="626085" cy="683227"/>
          </a:xfrm>
          <a:custGeom>
            <a:avLst/>
            <a:gdLst/>
            <a:ahLst/>
            <a:cxnLst/>
            <a:rect l="l" t="t" r="r" b="b"/>
            <a:pathLst>
              <a:path w="626085" h="683227">
                <a:moveTo>
                  <a:pt x="0" y="0"/>
                </a:moveTo>
                <a:lnTo>
                  <a:pt x="626085" y="0"/>
                </a:lnTo>
                <a:lnTo>
                  <a:pt x="626085" y="683228"/>
                </a:lnTo>
                <a:lnTo>
                  <a:pt x="0" y="683228"/>
                </a:lnTo>
                <a:lnTo>
                  <a:pt x="0" y="0"/>
                </a:lnTo>
                <a:close/>
              </a:path>
            </a:pathLst>
          </a:custGeom>
          <a:blipFill>
            <a:blip r:embed="rId5"/>
            <a:stretch>
              <a:fillRect/>
            </a:stretch>
          </a:blipFill>
        </p:spPr>
      </p:sp>
      <p:sp>
        <p:nvSpPr>
          <p:cNvPr id="7" name="TextBox 7"/>
          <p:cNvSpPr txBox="1"/>
          <p:nvPr/>
        </p:nvSpPr>
        <p:spPr>
          <a:xfrm>
            <a:off x="619435" y="365125"/>
            <a:ext cx="15190823" cy="119380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Open Sans Bold"/>
                <a:ea typeface="Open Sans Bold"/>
                <a:cs typeface="Open Sans Bold"/>
                <a:sym typeface="Open Sans Bold"/>
              </a:rPr>
              <a:t>Stratégie &amp; Feature Engineering</a:t>
            </a:r>
          </a:p>
        </p:txBody>
      </p:sp>
      <p:sp>
        <p:nvSpPr>
          <p:cNvPr id="8" name="TextBox 8"/>
          <p:cNvSpPr txBox="1"/>
          <p:nvPr/>
        </p:nvSpPr>
        <p:spPr>
          <a:xfrm>
            <a:off x="17368004" y="9182100"/>
            <a:ext cx="320993"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11</a:t>
            </a:r>
          </a:p>
        </p:txBody>
      </p:sp>
      <p:sp>
        <p:nvSpPr>
          <p:cNvPr id="9" name="TextBox 9"/>
          <p:cNvSpPr txBox="1"/>
          <p:nvPr/>
        </p:nvSpPr>
        <p:spPr>
          <a:xfrm rot="968982">
            <a:off x="664084" y="8384725"/>
            <a:ext cx="1429694" cy="523875"/>
          </a:xfrm>
          <a:prstGeom prst="rect">
            <a:avLst/>
          </a:prstGeom>
        </p:spPr>
        <p:txBody>
          <a:bodyPr lIns="0" tIns="0" rIns="0" bIns="0" rtlCol="0" anchor="t">
            <a:spAutoFit/>
          </a:bodyPr>
          <a:lstStyle/>
          <a:p>
            <a:pPr algn="ctr">
              <a:lnSpc>
                <a:spcPts val="4200"/>
              </a:lnSpc>
              <a:spcBef>
                <a:spcPct val="0"/>
              </a:spcBef>
            </a:pPr>
            <a:r>
              <a:rPr lang="en-US" sz="3000">
                <a:solidFill>
                  <a:srgbClr val="10B981"/>
                </a:solidFill>
                <a:latin typeface="Chewy"/>
                <a:ea typeface="Chewy"/>
                <a:cs typeface="Chewy"/>
                <a:sym typeface="Chewy"/>
              </a:rPr>
              <a:t>Log</a:t>
            </a:r>
          </a:p>
        </p:txBody>
      </p:sp>
      <p:sp>
        <p:nvSpPr>
          <p:cNvPr id="10" name="TextBox 10"/>
          <p:cNvSpPr txBox="1"/>
          <p:nvPr/>
        </p:nvSpPr>
        <p:spPr>
          <a:xfrm>
            <a:off x="1028700" y="1654162"/>
            <a:ext cx="6896100" cy="515480"/>
          </a:xfrm>
          <a:prstGeom prst="rect">
            <a:avLst/>
          </a:prstGeom>
        </p:spPr>
        <p:txBody>
          <a:bodyPr wrap="square" lIns="0" tIns="0" rIns="0" bIns="0" rtlCol="0" anchor="t">
            <a:spAutoFit/>
          </a:bodyPr>
          <a:lstStyle/>
          <a:p>
            <a:pPr algn="ctr">
              <a:lnSpc>
                <a:spcPts val="4200"/>
              </a:lnSpc>
              <a:spcBef>
                <a:spcPct val="0"/>
              </a:spcBef>
            </a:pPr>
            <a:r>
              <a:rPr lang="en-US" sz="3000" b="1" dirty="0" err="1">
                <a:solidFill>
                  <a:srgbClr val="10B981"/>
                </a:solidFill>
                <a:latin typeface="Open Sans Bold"/>
                <a:ea typeface="Open Sans Bold"/>
                <a:cs typeface="Open Sans Bold"/>
                <a:sym typeface="Open Sans Bold"/>
              </a:rPr>
              <a:t>Prétraitement</a:t>
            </a:r>
            <a:r>
              <a:rPr lang="en-US" sz="3000" b="1" dirty="0">
                <a:solidFill>
                  <a:srgbClr val="10B981"/>
                </a:solidFill>
                <a:latin typeface="Open Sans Bold"/>
                <a:ea typeface="Open Sans Bold"/>
                <a:cs typeface="Open Sans Bold"/>
                <a:sym typeface="Open Sans Bold"/>
              </a:rPr>
              <a:t> pour </a:t>
            </a:r>
            <a:r>
              <a:rPr lang="en-US" sz="3000" b="1" dirty="0" err="1">
                <a:solidFill>
                  <a:srgbClr val="10B981"/>
                </a:solidFill>
                <a:latin typeface="Open Sans Bold"/>
                <a:ea typeface="Open Sans Bold"/>
                <a:cs typeface="Open Sans Bold"/>
                <a:sym typeface="Open Sans Bold"/>
              </a:rPr>
              <a:t>régression</a:t>
            </a:r>
            <a:endParaRPr lang="en-US" sz="3000" b="1" dirty="0">
              <a:solidFill>
                <a:srgbClr val="10B981"/>
              </a:solidFill>
              <a:latin typeface="Open Sans Bold"/>
              <a:ea typeface="Open Sans Bold"/>
              <a:cs typeface="Open Sans Bold"/>
              <a:sym typeface="Open Sa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9435" y="365125"/>
            <a:ext cx="14173179" cy="3670300"/>
          </a:xfrm>
          <a:prstGeom prst="rect">
            <a:avLst/>
          </a:prstGeom>
        </p:spPr>
        <p:txBody>
          <a:bodyPr lIns="0" tIns="0" rIns="0" bIns="0" rtlCol="0" anchor="t">
            <a:spAutoFit/>
          </a:bodyPr>
          <a:lstStyle/>
          <a:p>
            <a:pPr algn="l">
              <a:lnSpc>
                <a:spcPts val="9799"/>
              </a:lnSpc>
            </a:pPr>
            <a:r>
              <a:rPr lang="en-US" sz="6999" b="1">
                <a:solidFill>
                  <a:srgbClr val="000000"/>
                </a:solidFill>
                <a:latin typeface="Open Sans Bold"/>
                <a:ea typeface="Open Sans Bold"/>
                <a:cs typeface="Open Sans Bold"/>
                <a:sym typeface="Open Sans Bold"/>
              </a:rPr>
              <a:t>Modèle de Classification (Churn)</a:t>
            </a:r>
          </a:p>
          <a:p>
            <a:pPr algn="l">
              <a:lnSpc>
                <a:spcPts val="9799"/>
              </a:lnSpc>
              <a:spcBef>
                <a:spcPct val="0"/>
              </a:spcBef>
            </a:pPr>
            <a:endParaRPr lang="en-US" sz="6999" b="1">
              <a:solidFill>
                <a:srgbClr val="000000"/>
              </a:solidFill>
              <a:latin typeface="Open Sans Bold"/>
              <a:ea typeface="Open Sans Bold"/>
              <a:cs typeface="Open Sans Bold"/>
              <a:sym typeface="Open Sans Bold"/>
            </a:endParaRPr>
          </a:p>
        </p:txBody>
      </p:sp>
      <p:sp>
        <p:nvSpPr>
          <p:cNvPr id="3" name="TextBox 3"/>
          <p:cNvSpPr txBox="1"/>
          <p:nvPr/>
        </p:nvSpPr>
        <p:spPr>
          <a:xfrm>
            <a:off x="710270" y="3562350"/>
            <a:ext cx="16927460" cy="15811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Open Sans"/>
                <a:ea typeface="Open Sans"/>
                <a:cs typeface="Open Sans"/>
                <a:sym typeface="Open Sans"/>
              </a:rPr>
              <a:t>Plutôt que de choisir un modèle arbitraire, une étude comparative rigoureuse a été menée sur quatre algorithmes majeurs pour identifier le prédicteur le plus fiable:</a:t>
            </a:r>
          </a:p>
          <a:p>
            <a:pPr algn="l">
              <a:lnSpc>
                <a:spcPts val="4200"/>
              </a:lnSpc>
              <a:spcBef>
                <a:spcPct val="0"/>
              </a:spcBef>
            </a:pPr>
            <a:r>
              <a:rPr lang="en-US" sz="3000" b="1">
                <a:solidFill>
                  <a:srgbClr val="000000"/>
                </a:solidFill>
                <a:latin typeface="Open Sans Bold"/>
                <a:ea typeface="Open Sans Bold"/>
                <a:cs typeface="Open Sans Bold"/>
                <a:sym typeface="Open Sans Bold"/>
              </a:rPr>
              <a:t>KNN</a:t>
            </a:r>
            <a:r>
              <a:rPr lang="en-US" sz="3000">
                <a:solidFill>
                  <a:srgbClr val="000000"/>
                </a:solidFill>
                <a:latin typeface="Open Sans"/>
                <a:ea typeface="Open Sans"/>
                <a:cs typeface="Open Sans"/>
                <a:sym typeface="Open Sans"/>
              </a:rPr>
              <a:t>,</a:t>
            </a:r>
            <a:r>
              <a:rPr lang="en-US" sz="3000" b="1">
                <a:solidFill>
                  <a:srgbClr val="000000"/>
                </a:solidFill>
                <a:latin typeface="Open Sans Bold"/>
                <a:ea typeface="Open Sans Bold"/>
                <a:cs typeface="Open Sans Bold"/>
                <a:sym typeface="Open Sans Bold"/>
              </a:rPr>
              <a:t> Decision Tree</a:t>
            </a:r>
            <a:r>
              <a:rPr lang="en-US" sz="3000">
                <a:solidFill>
                  <a:srgbClr val="000000"/>
                </a:solidFill>
                <a:latin typeface="Open Sans"/>
                <a:ea typeface="Open Sans"/>
                <a:cs typeface="Open Sans"/>
                <a:sym typeface="Open Sans"/>
              </a:rPr>
              <a:t>, </a:t>
            </a:r>
            <a:r>
              <a:rPr lang="en-US" sz="3000" b="1">
                <a:solidFill>
                  <a:srgbClr val="000000"/>
                </a:solidFill>
                <a:latin typeface="Open Sans Bold"/>
                <a:ea typeface="Open Sans Bold"/>
                <a:cs typeface="Open Sans Bold"/>
                <a:sym typeface="Open Sans Bold"/>
              </a:rPr>
              <a:t>Random Forest</a:t>
            </a:r>
            <a:r>
              <a:rPr lang="en-US" sz="3000">
                <a:solidFill>
                  <a:srgbClr val="000000"/>
                </a:solidFill>
                <a:latin typeface="Open Sans"/>
                <a:ea typeface="Open Sans"/>
                <a:cs typeface="Open Sans"/>
                <a:sym typeface="Open Sans"/>
              </a:rPr>
              <a:t> et </a:t>
            </a:r>
            <a:r>
              <a:rPr lang="en-US" sz="3000" b="1">
                <a:solidFill>
                  <a:srgbClr val="000000"/>
                </a:solidFill>
                <a:latin typeface="Open Sans Bold"/>
                <a:ea typeface="Open Sans Bold"/>
                <a:cs typeface="Open Sans Bold"/>
                <a:sym typeface="Open Sans Bold"/>
              </a:rPr>
              <a:t>XGBoost</a:t>
            </a:r>
            <a:r>
              <a:rPr lang="en-US" sz="3000">
                <a:solidFill>
                  <a:srgbClr val="000000"/>
                </a:solidFill>
                <a:latin typeface="Open Sans"/>
                <a:ea typeface="Open Sans"/>
                <a:cs typeface="Open Sans"/>
                <a:sym typeface="Open Sans"/>
              </a:rPr>
              <a:t>.</a:t>
            </a:r>
          </a:p>
        </p:txBody>
      </p:sp>
      <p:grpSp>
        <p:nvGrpSpPr>
          <p:cNvPr id="4" name="Group 4"/>
          <p:cNvGrpSpPr/>
          <p:nvPr/>
        </p:nvGrpSpPr>
        <p:grpSpPr>
          <a:xfrm>
            <a:off x="1280433" y="5931085"/>
            <a:ext cx="15573278" cy="2898590"/>
            <a:chOff x="0" y="0"/>
            <a:chExt cx="2849617" cy="530387"/>
          </a:xfrm>
        </p:grpSpPr>
        <p:sp>
          <p:nvSpPr>
            <p:cNvPr id="5" name="Freeform 5"/>
            <p:cNvSpPr/>
            <p:nvPr/>
          </p:nvSpPr>
          <p:spPr>
            <a:xfrm>
              <a:off x="0" y="0"/>
              <a:ext cx="2849617" cy="530387"/>
            </a:xfrm>
            <a:custGeom>
              <a:avLst/>
              <a:gdLst/>
              <a:ahLst/>
              <a:cxnLst/>
              <a:rect l="l" t="t" r="r" b="b"/>
              <a:pathLst>
                <a:path w="2849617" h="530387">
                  <a:moveTo>
                    <a:pt x="8451" y="0"/>
                  </a:moveTo>
                  <a:lnTo>
                    <a:pt x="2841166" y="0"/>
                  </a:lnTo>
                  <a:cubicBezTo>
                    <a:pt x="2843407" y="0"/>
                    <a:pt x="2845557" y="890"/>
                    <a:pt x="2847142" y="2475"/>
                  </a:cubicBezTo>
                  <a:cubicBezTo>
                    <a:pt x="2848727" y="4060"/>
                    <a:pt x="2849617" y="6210"/>
                    <a:pt x="2849617" y="8451"/>
                  </a:cubicBezTo>
                  <a:lnTo>
                    <a:pt x="2849617" y="521936"/>
                  </a:lnTo>
                  <a:cubicBezTo>
                    <a:pt x="2849617" y="524178"/>
                    <a:pt x="2848727" y="526327"/>
                    <a:pt x="2847142" y="527912"/>
                  </a:cubicBezTo>
                  <a:cubicBezTo>
                    <a:pt x="2845557" y="529497"/>
                    <a:pt x="2843407" y="530387"/>
                    <a:pt x="2841166" y="530387"/>
                  </a:cubicBezTo>
                  <a:lnTo>
                    <a:pt x="8451" y="530387"/>
                  </a:lnTo>
                  <a:cubicBezTo>
                    <a:pt x="6210" y="530387"/>
                    <a:pt x="4060" y="529497"/>
                    <a:pt x="2475" y="527912"/>
                  </a:cubicBezTo>
                  <a:cubicBezTo>
                    <a:pt x="890" y="526327"/>
                    <a:pt x="0" y="524178"/>
                    <a:pt x="0" y="521936"/>
                  </a:cubicBezTo>
                  <a:lnTo>
                    <a:pt x="0" y="8451"/>
                  </a:lnTo>
                  <a:cubicBezTo>
                    <a:pt x="0" y="6210"/>
                    <a:pt x="890" y="4060"/>
                    <a:pt x="2475" y="2475"/>
                  </a:cubicBezTo>
                  <a:cubicBezTo>
                    <a:pt x="4060" y="890"/>
                    <a:pt x="6210" y="0"/>
                    <a:pt x="8451" y="0"/>
                  </a:cubicBezTo>
                  <a:close/>
                </a:path>
              </a:pathLst>
            </a:custGeom>
            <a:solidFill>
              <a:srgbClr val="10B981"/>
            </a:solidFill>
          </p:spPr>
        </p:sp>
        <p:sp>
          <p:nvSpPr>
            <p:cNvPr id="6" name="TextBox 6"/>
            <p:cNvSpPr txBox="1"/>
            <p:nvPr/>
          </p:nvSpPr>
          <p:spPr>
            <a:xfrm>
              <a:off x="0" y="-38100"/>
              <a:ext cx="2849617" cy="568487"/>
            </a:xfrm>
            <a:prstGeom prst="rect">
              <a:avLst/>
            </a:prstGeom>
          </p:spPr>
          <p:txBody>
            <a:bodyPr lIns="50800" tIns="50800" rIns="50800" bIns="50800" rtlCol="0" anchor="ctr"/>
            <a:lstStyle/>
            <a:p>
              <a:pPr algn="ctr">
                <a:lnSpc>
                  <a:spcPts val="3499"/>
                </a:lnSpc>
              </a:pPr>
              <a:endParaRPr/>
            </a:p>
          </p:txBody>
        </p:sp>
      </p:grpSp>
      <p:grpSp>
        <p:nvGrpSpPr>
          <p:cNvPr id="7" name="Group 7"/>
          <p:cNvGrpSpPr/>
          <p:nvPr/>
        </p:nvGrpSpPr>
        <p:grpSpPr>
          <a:xfrm>
            <a:off x="1280433" y="5754104"/>
            <a:ext cx="15573278" cy="3004012"/>
            <a:chOff x="0" y="0"/>
            <a:chExt cx="2849617" cy="549678"/>
          </a:xfrm>
        </p:grpSpPr>
        <p:sp>
          <p:nvSpPr>
            <p:cNvPr id="8" name="Freeform 8"/>
            <p:cNvSpPr/>
            <p:nvPr/>
          </p:nvSpPr>
          <p:spPr>
            <a:xfrm>
              <a:off x="0" y="0"/>
              <a:ext cx="2849617" cy="549678"/>
            </a:xfrm>
            <a:custGeom>
              <a:avLst/>
              <a:gdLst/>
              <a:ahLst/>
              <a:cxnLst/>
              <a:rect l="l" t="t" r="r" b="b"/>
              <a:pathLst>
                <a:path w="2849617" h="549678">
                  <a:moveTo>
                    <a:pt x="8451" y="0"/>
                  </a:moveTo>
                  <a:lnTo>
                    <a:pt x="2841166" y="0"/>
                  </a:lnTo>
                  <a:cubicBezTo>
                    <a:pt x="2843407" y="0"/>
                    <a:pt x="2845557" y="890"/>
                    <a:pt x="2847142" y="2475"/>
                  </a:cubicBezTo>
                  <a:cubicBezTo>
                    <a:pt x="2848727" y="4060"/>
                    <a:pt x="2849617" y="6210"/>
                    <a:pt x="2849617" y="8451"/>
                  </a:cubicBezTo>
                  <a:lnTo>
                    <a:pt x="2849617" y="541226"/>
                  </a:lnTo>
                  <a:cubicBezTo>
                    <a:pt x="2849617" y="543468"/>
                    <a:pt x="2848727" y="545617"/>
                    <a:pt x="2847142" y="547202"/>
                  </a:cubicBezTo>
                  <a:cubicBezTo>
                    <a:pt x="2845557" y="548787"/>
                    <a:pt x="2843407" y="549678"/>
                    <a:pt x="2841166" y="549678"/>
                  </a:cubicBezTo>
                  <a:lnTo>
                    <a:pt x="8451" y="549678"/>
                  </a:lnTo>
                  <a:cubicBezTo>
                    <a:pt x="6210" y="549678"/>
                    <a:pt x="4060" y="548787"/>
                    <a:pt x="2475" y="547202"/>
                  </a:cubicBezTo>
                  <a:cubicBezTo>
                    <a:pt x="890" y="545617"/>
                    <a:pt x="0" y="543468"/>
                    <a:pt x="0" y="541226"/>
                  </a:cubicBezTo>
                  <a:lnTo>
                    <a:pt x="0" y="8451"/>
                  </a:lnTo>
                  <a:cubicBezTo>
                    <a:pt x="0" y="6210"/>
                    <a:pt x="890" y="4060"/>
                    <a:pt x="2475" y="2475"/>
                  </a:cubicBezTo>
                  <a:cubicBezTo>
                    <a:pt x="4060" y="890"/>
                    <a:pt x="6210" y="0"/>
                    <a:pt x="8451" y="0"/>
                  </a:cubicBezTo>
                  <a:close/>
                </a:path>
              </a:pathLst>
            </a:custGeom>
            <a:solidFill>
              <a:srgbClr val="F8FAFC"/>
            </a:solidFill>
          </p:spPr>
        </p:sp>
        <p:sp>
          <p:nvSpPr>
            <p:cNvPr id="9" name="TextBox 9"/>
            <p:cNvSpPr txBox="1"/>
            <p:nvPr/>
          </p:nvSpPr>
          <p:spPr>
            <a:xfrm>
              <a:off x="0" y="-38100"/>
              <a:ext cx="2849617" cy="587778"/>
            </a:xfrm>
            <a:prstGeom prst="rect">
              <a:avLst/>
            </a:prstGeom>
          </p:spPr>
          <p:txBody>
            <a:bodyPr lIns="50800" tIns="50800" rIns="50800" bIns="50800" rtlCol="0" anchor="ctr"/>
            <a:lstStyle/>
            <a:p>
              <a:pPr algn="ctr">
                <a:lnSpc>
                  <a:spcPts val="3499"/>
                </a:lnSpc>
              </a:pPr>
              <a:endParaRPr/>
            </a:p>
          </p:txBody>
        </p:sp>
      </p:grpSp>
      <p:sp>
        <p:nvSpPr>
          <p:cNvPr id="10" name="TextBox 10"/>
          <p:cNvSpPr txBox="1"/>
          <p:nvPr/>
        </p:nvSpPr>
        <p:spPr>
          <a:xfrm>
            <a:off x="1871145" y="6131687"/>
            <a:ext cx="6052340" cy="514350"/>
          </a:xfrm>
          <a:prstGeom prst="rect">
            <a:avLst/>
          </a:prstGeom>
        </p:spPr>
        <p:txBody>
          <a:bodyPr lIns="0" tIns="0" rIns="0" bIns="0" rtlCol="0" anchor="t">
            <a:spAutoFit/>
          </a:bodyPr>
          <a:lstStyle/>
          <a:p>
            <a:pPr algn="l">
              <a:lnSpc>
                <a:spcPts val="4200"/>
              </a:lnSpc>
              <a:spcBef>
                <a:spcPct val="0"/>
              </a:spcBef>
            </a:pPr>
            <a:r>
              <a:rPr lang="en-US" sz="3000" b="1">
                <a:solidFill>
                  <a:srgbClr val="10B981"/>
                </a:solidFill>
                <a:latin typeface="Montserrat Bold"/>
                <a:ea typeface="Montserrat Bold"/>
                <a:cs typeface="Montserrat Bold"/>
                <a:sym typeface="Montserrat Bold"/>
              </a:rPr>
              <a:t>Choix</a:t>
            </a:r>
          </a:p>
        </p:txBody>
      </p:sp>
      <p:sp>
        <p:nvSpPr>
          <p:cNvPr id="11" name="TextBox 11"/>
          <p:cNvSpPr txBox="1"/>
          <p:nvPr/>
        </p:nvSpPr>
        <p:spPr>
          <a:xfrm>
            <a:off x="1575789" y="6800751"/>
            <a:ext cx="14982566" cy="15811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C'est le Random Forest qui a été retenu comme modèle final, offrant le meilleur compromis de performance avec un F1-Score optimal et une matrice de confusion équilibrée.</a:t>
            </a:r>
          </a:p>
        </p:txBody>
      </p:sp>
      <p:sp>
        <p:nvSpPr>
          <p:cNvPr id="12" name="TextBox 12"/>
          <p:cNvSpPr txBox="1"/>
          <p:nvPr/>
        </p:nvSpPr>
        <p:spPr>
          <a:xfrm>
            <a:off x="17321986" y="9182100"/>
            <a:ext cx="413028"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1840" y="3237616"/>
            <a:ext cx="10052022" cy="6206986"/>
          </a:xfrm>
          <a:custGeom>
            <a:avLst/>
            <a:gdLst/>
            <a:ahLst/>
            <a:cxnLst/>
            <a:rect l="l" t="t" r="r" b="b"/>
            <a:pathLst>
              <a:path w="10052022" h="6206986">
                <a:moveTo>
                  <a:pt x="0" y="0"/>
                </a:moveTo>
                <a:lnTo>
                  <a:pt x="10052022" y="0"/>
                </a:lnTo>
                <a:lnTo>
                  <a:pt x="10052022" y="6206986"/>
                </a:lnTo>
                <a:lnTo>
                  <a:pt x="0" y="6206986"/>
                </a:lnTo>
                <a:lnTo>
                  <a:pt x="0" y="0"/>
                </a:lnTo>
                <a:close/>
              </a:path>
            </a:pathLst>
          </a:custGeom>
          <a:blipFill>
            <a:blip r:embed="rId2"/>
            <a:stretch>
              <a:fillRect/>
            </a:stretch>
          </a:blipFill>
        </p:spPr>
      </p:sp>
      <p:sp>
        <p:nvSpPr>
          <p:cNvPr id="3" name="Freeform 3"/>
          <p:cNvSpPr/>
          <p:nvPr/>
        </p:nvSpPr>
        <p:spPr>
          <a:xfrm>
            <a:off x="10595068" y="3138793"/>
            <a:ext cx="7274302" cy="6119507"/>
          </a:xfrm>
          <a:custGeom>
            <a:avLst/>
            <a:gdLst/>
            <a:ahLst/>
            <a:cxnLst/>
            <a:rect l="l" t="t" r="r" b="b"/>
            <a:pathLst>
              <a:path w="7274302" h="6119507">
                <a:moveTo>
                  <a:pt x="0" y="0"/>
                </a:moveTo>
                <a:lnTo>
                  <a:pt x="7274302" y="0"/>
                </a:lnTo>
                <a:lnTo>
                  <a:pt x="7274302" y="6119507"/>
                </a:lnTo>
                <a:lnTo>
                  <a:pt x="0" y="6119507"/>
                </a:lnTo>
                <a:lnTo>
                  <a:pt x="0" y="0"/>
                </a:lnTo>
                <a:close/>
              </a:path>
            </a:pathLst>
          </a:custGeom>
          <a:blipFill>
            <a:blip r:embed="rId3"/>
            <a:stretch>
              <a:fillRect/>
            </a:stretch>
          </a:blipFill>
        </p:spPr>
      </p:sp>
      <p:sp>
        <p:nvSpPr>
          <p:cNvPr id="4" name="TextBox 4"/>
          <p:cNvSpPr txBox="1"/>
          <p:nvPr/>
        </p:nvSpPr>
        <p:spPr>
          <a:xfrm>
            <a:off x="619435" y="365125"/>
            <a:ext cx="10257463" cy="24320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Open Sans Bold"/>
                <a:ea typeface="Open Sans Bold"/>
                <a:cs typeface="Open Sans Bold"/>
                <a:sym typeface="Open Sans Bold"/>
              </a:rPr>
              <a:t>Performance Churn : Matrice de Confusion</a:t>
            </a:r>
          </a:p>
        </p:txBody>
      </p:sp>
      <p:sp>
        <p:nvSpPr>
          <p:cNvPr id="5" name="TextBox 5"/>
          <p:cNvSpPr txBox="1"/>
          <p:nvPr/>
        </p:nvSpPr>
        <p:spPr>
          <a:xfrm>
            <a:off x="17322879" y="9182100"/>
            <a:ext cx="411242"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89412" y="2628762"/>
            <a:ext cx="10708113" cy="6629538"/>
          </a:xfrm>
          <a:custGeom>
            <a:avLst/>
            <a:gdLst/>
            <a:ahLst/>
            <a:cxnLst/>
            <a:rect l="l" t="t" r="r" b="b"/>
            <a:pathLst>
              <a:path w="10708113" h="6629538">
                <a:moveTo>
                  <a:pt x="0" y="0"/>
                </a:moveTo>
                <a:lnTo>
                  <a:pt x="10708113" y="0"/>
                </a:lnTo>
                <a:lnTo>
                  <a:pt x="10708113" y="6629538"/>
                </a:lnTo>
                <a:lnTo>
                  <a:pt x="0" y="6629538"/>
                </a:lnTo>
                <a:lnTo>
                  <a:pt x="0" y="0"/>
                </a:lnTo>
                <a:close/>
              </a:path>
            </a:pathLst>
          </a:custGeom>
          <a:blipFill>
            <a:blip r:embed="rId2"/>
            <a:stretch>
              <a:fillRect/>
            </a:stretch>
          </a:blipFill>
        </p:spPr>
      </p:sp>
      <p:sp>
        <p:nvSpPr>
          <p:cNvPr id="3" name="Freeform 3"/>
          <p:cNvSpPr/>
          <p:nvPr/>
        </p:nvSpPr>
        <p:spPr>
          <a:xfrm>
            <a:off x="161925" y="2924989"/>
            <a:ext cx="7641879" cy="6037084"/>
          </a:xfrm>
          <a:custGeom>
            <a:avLst/>
            <a:gdLst/>
            <a:ahLst/>
            <a:cxnLst/>
            <a:rect l="l" t="t" r="r" b="b"/>
            <a:pathLst>
              <a:path w="7641879" h="6037084">
                <a:moveTo>
                  <a:pt x="0" y="0"/>
                </a:moveTo>
                <a:lnTo>
                  <a:pt x="7641879" y="0"/>
                </a:lnTo>
                <a:lnTo>
                  <a:pt x="7641879" y="6037084"/>
                </a:lnTo>
                <a:lnTo>
                  <a:pt x="0" y="6037084"/>
                </a:lnTo>
                <a:lnTo>
                  <a:pt x="0" y="0"/>
                </a:lnTo>
                <a:close/>
              </a:path>
            </a:pathLst>
          </a:custGeom>
          <a:blipFill>
            <a:blip r:embed="rId3"/>
            <a:stretch>
              <a:fillRect/>
            </a:stretch>
          </a:blipFill>
        </p:spPr>
      </p:sp>
      <p:sp>
        <p:nvSpPr>
          <p:cNvPr id="4" name="TextBox 4"/>
          <p:cNvSpPr txBox="1"/>
          <p:nvPr/>
        </p:nvSpPr>
        <p:spPr>
          <a:xfrm>
            <a:off x="619435" y="365125"/>
            <a:ext cx="13465253" cy="24320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Open Sans Bold"/>
                <a:ea typeface="Open Sans Bold"/>
                <a:cs typeface="Open Sans Bold"/>
                <a:sym typeface="Open Sans Bold"/>
              </a:rPr>
              <a:t>Capacité de Séparation (ROC)</a:t>
            </a:r>
          </a:p>
          <a:p>
            <a:pPr algn="l">
              <a:lnSpc>
                <a:spcPts val="9799"/>
              </a:lnSpc>
              <a:spcBef>
                <a:spcPct val="0"/>
              </a:spcBef>
            </a:pPr>
            <a:endParaRPr lang="en-US" sz="6999" b="1">
              <a:solidFill>
                <a:srgbClr val="000000"/>
              </a:solidFill>
              <a:latin typeface="Open Sans Bold"/>
              <a:ea typeface="Open Sans Bold"/>
              <a:cs typeface="Open Sans Bold"/>
              <a:sym typeface="Open Sans Bold"/>
            </a:endParaRPr>
          </a:p>
        </p:txBody>
      </p:sp>
      <p:sp>
        <p:nvSpPr>
          <p:cNvPr id="5" name="TextBox 5"/>
          <p:cNvSpPr txBox="1"/>
          <p:nvPr/>
        </p:nvSpPr>
        <p:spPr>
          <a:xfrm>
            <a:off x="17301329" y="9182100"/>
            <a:ext cx="454343"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835962"/>
            <a:ext cx="11079960" cy="6736555"/>
          </a:xfrm>
          <a:custGeom>
            <a:avLst/>
            <a:gdLst/>
            <a:ahLst/>
            <a:cxnLst/>
            <a:rect l="l" t="t" r="r" b="b"/>
            <a:pathLst>
              <a:path w="11079960" h="6736555">
                <a:moveTo>
                  <a:pt x="0" y="0"/>
                </a:moveTo>
                <a:lnTo>
                  <a:pt x="11079960" y="0"/>
                </a:lnTo>
                <a:lnTo>
                  <a:pt x="11079960" y="6736555"/>
                </a:lnTo>
                <a:lnTo>
                  <a:pt x="0" y="6736555"/>
                </a:lnTo>
                <a:lnTo>
                  <a:pt x="0" y="0"/>
                </a:lnTo>
                <a:close/>
              </a:path>
            </a:pathLst>
          </a:custGeom>
          <a:blipFill>
            <a:blip r:embed="rId2"/>
            <a:stretch>
              <a:fillRect b="-3608"/>
            </a:stretch>
          </a:blipFill>
        </p:spPr>
      </p:sp>
      <p:sp>
        <p:nvSpPr>
          <p:cNvPr id="3" name="Freeform 3"/>
          <p:cNvSpPr/>
          <p:nvPr/>
        </p:nvSpPr>
        <p:spPr>
          <a:xfrm>
            <a:off x="11079960" y="2566566"/>
            <a:ext cx="6923953" cy="5880618"/>
          </a:xfrm>
          <a:custGeom>
            <a:avLst/>
            <a:gdLst/>
            <a:ahLst/>
            <a:cxnLst/>
            <a:rect l="l" t="t" r="r" b="b"/>
            <a:pathLst>
              <a:path w="6923953" h="5880618">
                <a:moveTo>
                  <a:pt x="0" y="0"/>
                </a:moveTo>
                <a:lnTo>
                  <a:pt x="6923953" y="0"/>
                </a:lnTo>
                <a:lnTo>
                  <a:pt x="6923953" y="5880618"/>
                </a:lnTo>
                <a:lnTo>
                  <a:pt x="0" y="5880618"/>
                </a:lnTo>
                <a:lnTo>
                  <a:pt x="0" y="0"/>
                </a:lnTo>
                <a:close/>
              </a:path>
            </a:pathLst>
          </a:custGeom>
          <a:blipFill>
            <a:blip r:embed="rId3"/>
            <a:stretch>
              <a:fillRect/>
            </a:stretch>
          </a:blipFill>
        </p:spPr>
      </p:sp>
      <p:sp>
        <p:nvSpPr>
          <p:cNvPr id="4" name="TextBox 4"/>
          <p:cNvSpPr txBox="1"/>
          <p:nvPr/>
        </p:nvSpPr>
        <p:spPr>
          <a:xfrm>
            <a:off x="619435" y="365125"/>
            <a:ext cx="15743891" cy="2432050"/>
          </a:xfrm>
          <a:prstGeom prst="rect">
            <a:avLst/>
          </a:prstGeom>
        </p:spPr>
        <p:txBody>
          <a:bodyPr lIns="0" tIns="0" rIns="0" bIns="0" rtlCol="0" anchor="t">
            <a:spAutoFit/>
          </a:bodyPr>
          <a:lstStyle/>
          <a:p>
            <a:pPr algn="l">
              <a:lnSpc>
                <a:spcPts val="9799"/>
              </a:lnSpc>
              <a:spcBef>
                <a:spcPct val="0"/>
              </a:spcBef>
            </a:pPr>
            <a:r>
              <a:rPr lang="en-US" sz="6999" b="1">
                <a:solidFill>
                  <a:srgbClr val="000000"/>
                </a:solidFill>
                <a:latin typeface="Open Sans Bold"/>
                <a:ea typeface="Open Sans Bold"/>
                <a:cs typeface="Open Sans Bold"/>
                <a:sym typeface="Open Sans Bold"/>
              </a:rPr>
              <a:t>Prédiction de Valeur (Spending)</a:t>
            </a:r>
          </a:p>
          <a:p>
            <a:pPr algn="l">
              <a:lnSpc>
                <a:spcPts val="9799"/>
              </a:lnSpc>
              <a:spcBef>
                <a:spcPct val="0"/>
              </a:spcBef>
            </a:pPr>
            <a:endParaRPr lang="en-US" sz="6999" b="1">
              <a:solidFill>
                <a:srgbClr val="000000"/>
              </a:solidFill>
              <a:latin typeface="Open Sans Bold"/>
              <a:ea typeface="Open Sans Bold"/>
              <a:cs typeface="Open Sans Bold"/>
              <a:sym typeface="Open Sans Bold"/>
            </a:endParaRPr>
          </a:p>
        </p:txBody>
      </p:sp>
      <p:sp>
        <p:nvSpPr>
          <p:cNvPr id="5" name="TextBox 5"/>
          <p:cNvSpPr txBox="1"/>
          <p:nvPr/>
        </p:nvSpPr>
        <p:spPr>
          <a:xfrm>
            <a:off x="17322462" y="9182100"/>
            <a:ext cx="412075"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7981" y="895350"/>
            <a:ext cx="11572875"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Régression : Réel vs Prédit</a:t>
            </a:r>
          </a:p>
        </p:txBody>
      </p:sp>
      <p:grpSp>
        <p:nvGrpSpPr>
          <p:cNvPr id="3" name="Group 3"/>
          <p:cNvGrpSpPr/>
          <p:nvPr/>
        </p:nvGrpSpPr>
        <p:grpSpPr>
          <a:xfrm>
            <a:off x="861873" y="6465072"/>
            <a:ext cx="9166502" cy="3127936"/>
            <a:chOff x="0" y="0"/>
            <a:chExt cx="1677297" cy="572353"/>
          </a:xfrm>
        </p:grpSpPr>
        <p:sp>
          <p:nvSpPr>
            <p:cNvPr id="4" name="Freeform 4"/>
            <p:cNvSpPr/>
            <p:nvPr/>
          </p:nvSpPr>
          <p:spPr>
            <a:xfrm>
              <a:off x="0" y="0"/>
              <a:ext cx="1677297" cy="572353"/>
            </a:xfrm>
            <a:custGeom>
              <a:avLst/>
              <a:gdLst/>
              <a:ahLst/>
              <a:cxnLst/>
              <a:rect l="l" t="t" r="r" b="b"/>
              <a:pathLst>
                <a:path w="1677297" h="572353">
                  <a:moveTo>
                    <a:pt x="14358" y="0"/>
                  </a:moveTo>
                  <a:lnTo>
                    <a:pt x="1662939" y="0"/>
                  </a:lnTo>
                  <a:cubicBezTo>
                    <a:pt x="1670869" y="0"/>
                    <a:pt x="1677297" y="6428"/>
                    <a:pt x="1677297" y="14358"/>
                  </a:cubicBezTo>
                  <a:lnTo>
                    <a:pt x="1677297" y="557995"/>
                  </a:lnTo>
                  <a:cubicBezTo>
                    <a:pt x="1677297" y="565925"/>
                    <a:pt x="1670869" y="572353"/>
                    <a:pt x="1662939" y="572353"/>
                  </a:cubicBezTo>
                  <a:lnTo>
                    <a:pt x="14358" y="572353"/>
                  </a:lnTo>
                  <a:cubicBezTo>
                    <a:pt x="6428" y="572353"/>
                    <a:pt x="0" y="565925"/>
                    <a:pt x="0" y="557995"/>
                  </a:cubicBezTo>
                  <a:lnTo>
                    <a:pt x="0" y="14358"/>
                  </a:lnTo>
                  <a:cubicBezTo>
                    <a:pt x="0" y="6428"/>
                    <a:pt x="6428" y="0"/>
                    <a:pt x="14358" y="0"/>
                  </a:cubicBezTo>
                  <a:close/>
                </a:path>
              </a:pathLst>
            </a:custGeom>
            <a:solidFill>
              <a:srgbClr val="10B981"/>
            </a:solidFill>
          </p:spPr>
        </p:sp>
        <p:sp>
          <p:nvSpPr>
            <p:cNvPr id="5" name="TextBox 5"/>
            <p:cNvSpPr txBox="1"/>
            <p:nvPr/>
          </p:nvSpPr>
          <p:spPr>
            <a:xfrm>
              <a:off x="0" y="-38100"/>
              <a:ext cx="1677297" cy="610453"/>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842217" y="6274088"/>
            <a:ext cx="9186158" cy="3241699"/>
            <a:chOff x="0" y="0"/>
            <a:chExt cx="1680894" cy="593170"/>
          </a:xfrm>
        </p:grpSpPr>
        <p:sp>
          <p:nvSpPr>
            <p:cNvPr id="7" name="Freeform 7"/>
            <p:cNvSpPr/>
            <p:nvPr/>
          </p:nvSpPr>
          <p:spPr>
            <a:xfrm>
              <a:off x="0" y="0"/>
              <a:ext cx="1680894" cy="593170"/>
            </a:xfrm>
            <a:custGeom>
              <a:avLst/>
              <a:gdLst/>
              <a:ahLst/>
              <a:cxnLst/>
              <a:rect l="l" t="t" r="r" b="b"/>
              <a:pathLst>
                <a:path w="1680894" h="593170">
                  <a:moveTo>
                    <a:pt x="14327" y="0"/>
                  </a:moveTo>
                  <a:lnTo>
                    <a:pt x="1666567" y="0"/>
                  </a:lnTo>
                  <a:cubicBezTo>
                    <a:pt x="1670367" y="0"/>
                    <a:pt x="1674011" y="1509"/>
                    <a:pt x="1676698" y="4196"/>
                  </a:cubicBezTo>
                  <a:cubicBezTo>
                    <a:pt x="1679385" y="6883"/>
                    <a:pt x="1680894" y="10527"/>
                    <a:pt x="1680894" y="14327"/>
                  </a:cubicBezTo>
                  <a:lnTo>
                    <a:pt x="1680894" y="578843"/>
                  </a:lnTo>
                  <a:cubicBezTo>
                    <a:pt x="1680894" y="586755"/>
                    <a:pt x="1674480" y="593170"/>
                    <a:pt x="1666567" y="593170"/>
                  </a:cubicBezTo>
                  <a:lnTo>
                    <a:pt x="14327" y="593170"/>
                  </a:lnTo>
                  <a:cubicBezTo>
                    <a:pt x="6415" y="593170"/>
                    <a:pt x="0" y="586755"/>
                    <a:pt x="0" y="578843"/>
                  </a:cubicBezTo>
                  <a:lnTo>
                    <a:pt x="0" y="14327"/>
                  </a:lnTo>
                  <a:cubicBezTo>
                    <a:pt x="0" y="10527"/>
                    <a:pt x="1509" y="6883"/>
                    <a:pt x="4196" y="4196"/>
                  </a:cubicBezTo>
                  <a:cubicBezTo>
                    <a:pt x="6883" y="1509"/>
                    <a:pt x="10527" y="0"/>
                    <a:pt x="14327" y="0"/>
                  </a:cubicBezTo>
                  <a:close/>
                </a:path>
              </a:pathLst>
            </a:custGeom>
            <a:solidFill>
              <a:srgbClr val="F8FAFC"/>
            </a:solidFill>
          </p:spPr>
        </p:sp>
        <p:sp>
          <p:nvSpPr>
            <p:cNvPr id="8" name="TextBox 8"/>
            <p:cNvSpPr txBox="1"/>
            <p:nvPr/>
          </p:nvSpPr>
          <p:spPr>
            <a:xfrm>
              <a:off x="0" y="-38100"/>
              <a:ext cx="1680894" cy="631270"/>
            </a:xfrm>
            <a:prstGeom prst="rect">
              <a:avLst/>
            </a:prstGeom>
          </p:spPr>
          <p:txBody>
            <a:bodyPr lIns="50800" tIns="50800" rIns="50800" bIns="50800" rtlCol="0" anchor="ctr"/>
            <a:lstStyle/>
            <a:p>
              <a:pPr algn="ctr">
                <a:lnSpc>
                  <a:spcPts val="3499"/>
                </a:lnSpc>
              </a:pPr>
              <a:endParaRPr/>
            </a:p>
          </p:txBody>
        </p:sp>
      </p:grpSp>
      <p:sp>
        <p:nvSpPr>
          <p:cNvPr id="9" name="TextBox 9"/>
          <p:cNvSpPr txBox="1"/>
          <p:nvPr/>
        </p:nvSpPr>
        <p:spPr>
          <a:xfrm>
            <a:off x="1278989" y="6595550"/>
            <a:ext cx="5158181" cy="514350"/>
          </a:xfrm>
          <a:prstGeom prst="rect">
            <a:avLst/>
          </a:prstGeom>
        </p:spPr>
        <p:txBody>
          <a:bodyPr lIns="0" tIns="0" rIns="0" bIns="0" rtlCol="0" anchor="t">
            <a:spAutoFit/>
          </a:bodyPr>
          <a:lstStyle/>
          <a:p>
            <a:pPr algn="l">
              <a:lnSpc>
                <a:spcPts val="4200"/>
              </a:lnSpc>
              <a:spcBef>
                <a:spcPct val="0"/>
              </a:spcBef>
            </a:pPr>
            <a:r>
              <a:rPr lang="en-US" sz="3000" b="1">
                <a:solidFill>
                  <a:srgbClr val="10B981"/>
                </a:solidFill>
                <a:latin typeface="Montserrat Bold"/>
                <a:ea typeface="Montserrat Bold"/>
                <a:cs typeface="Montserrat Bold"/>
                <a:sym typeface="Montserrat Bold"/>
              </a:rPr>
              <a:t>Pourquoi ces résultats ?</a:t>
            </a:r>
          </a:p>
        </p:txBody>
      </p:sp>
      <p:sp>
        <p:nvSpPr>
          <p:cNvPr id="10" name="TextBox 10"/>
          <p:cNvSpPr txBox="1"/>
          <p:nvPr/>
        </p:nvSpPr>
        <p:spPr>
          <a:xfrm>
            <a:off x="1278989" y="7381774"/>
            <a:ext cx="9472113" cy="31813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Montserrat Bold"/>
                <a:ea typeface="Montserrat Bold"/>
                <a:cs typeface="Montserrat Bold"/>
                <a:sym typeface="Montserrat Bold"/>
              </a:rPr>
              <a:t>Linéarité :</a:t>
            </a:r>
            <a:r>
              <a:rPr lang="en-US" sz="3000">
                <a:solidFill>
                  <a:srgbClr val="000000"/>
                </a:solidFill>
                <a:latin typeface="Montserrat"/>
                <a:ea typeface="Montserrat"/>
                <a:cs typeface="Montserrat"/>
                <a:sym typeface="Montserrat"/>
              </a:rPr>
              <a:t> Les points suivent étroitement la diagonale, indiquant une faible erreur de prédiction.</a:t>
            </a: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endParaRPr lang="en-US" sz="3000">
              <a:solidFill>
                <a:srgbClr val="000000"/>
              </a:solidFill>
              <a:latin typeface="Montserrat"/>
              <a:ea typeface="Montserrat"/>
              <a:cs typeface="Montserrat"/>
              <a:sym typeface="Montserrat"/>
            </a:endParaRPr>
          </a:p>
          <a:p>
            <a:pPr algn="l">
              <a:lnSpc>
                <a:spcPts val="4200"/>
              </a:lnSpc>
              <a:spcBef>
                <a:spcPct val="0"/>
              </a:spcBef>
            </a:pPr>
            <a:endParaRPr lang="en-US" sz="3000">
              <a:solidFill>
                <a:srgbClr val="000000"/>
              </a:solidFill>
              <a:latin typeface="Montserrat"/>
              <a:ea typeface="Montserrat"/>
              <a:cs typeface="Montserrat"/>
              <a:sym typeface="Montserrat"/>
            </a:endParaRPr>
          </a:p>
        </p:txBody>
      </p:sp>
      <p:sp>
        <p:nvSpPr>
          <p:cNvPr id="11" name="Freeform 11"/>
          <p:cNvSpPr/>
          <p:nvPr/>
        </p:nvSpPr>
        <p:spPr>
          <a:xfrm>
            <a:off x="10814488" y="2738992"/>
            <a:ext cx="6923953" cy="5880618"/>
          </a:xfrm>
          <a:custGeom>
            <a:avLst/>
            <a:gdLst/>
            <a:ahLst/>
            <a:cxnLst/>
            <a:rect l="l" t="t" r="r" b="b"/>
            <a:pathLst>
              <a:path w="6923953" h="5880618">
                <a:moveTo>
                  <a:pt x="0" y="0"/>
                </a:moveTo>
                <a:lnTo>
                  <a:pt x="6923953" y="0"/>
                </a:lnTo>
                <a:lnTo>
                  <a:pt x="6923953" y="5880618"/>
                </a:lnTo>
                <a:lnTo>
                  <a:pt x="0" y="5880618"/>
                </a:lnTo>
                <a:lnTo>
                  <a:pt x="0" y="0"/>
                </a:lnTo>
                <a:close/>
              </a:path>
            </a:pathLst>
          </a:custGeom>
          <a:blipFill>
            <a:blip r:embed="rId2"/>
            <a:stretch>
              <a:fillRect/>
            </a:stretch>
          </a:blipFill>
        </p:spPr>
      </p:sp>
      <p:grpSp>
        <p:nvGrpSpPr>
          <p:cNvPr id="12" name="Group 12"/>
          <p:cNvGrpSpPr/>
          <p:nvPr/>
        </p:nvGrpSpPr>
        <p:grpSpPr>
          <a:xfrm>
            <a:off x="861873" y="2713143"/>
            <a:ext cx="9166502" cy="3127936"/>
            <a:chOff x="0" y="0"/>
            <a:chExt cx="1677297" cy="572353"/>
          </a:xfrm>
        </p:grpSpPr>
        <p:sp>
          <p:nvSpPr>
            <p:cNvPr id="13" name="Freeform 13"/>
            <p:cNvSpPr/>
            <p:nvPr/>
          </p:nvSpPr>
          <p:spPr>
            <a:xfrm>
              <a:off x="0" y="0"/>
              <a:ext cx="1677297" cy="572353"/>
            </a:xfrm>
            <a:custGeom>
              <a:avLst/>
              <a:gdLst/>
              <a:ahLst/>
              <a:cxnLst/>
              <a:rect l="l" t="t" r="r" b="b"/>
              <a:pathLst>
                <a:path w="1677297" h="572353">
                  <a:moveTo>
                    <a:pt x="14358" y="0"/>
                  </a:moveTo>
                  <a:lnTo>
                    <a:pt x="1662939" y="0"/>
                  </a:lnTo>
                  <a:cubicBezTo>
                    <a:pt x="1670869" y="0"/>
                    <a:pt x="1677297" y="6428"/>
                    <a:pt x="1677297" y="14358"/>
                  </a:cubicBezTo>
                  <a:lnTo>
                    <a:pt x="1677297" y="557995"/>
                  </a:lnTo>
                  <a:cubicBezTo>
                    <a:pt x="1677297" y="565925"/>
                    <a:pt x="1670869" y="572353"/>
                    <a:pt x="1662939" y="572353"/>
                  </a:cubicBezTo>
                  <a:lnTo>
                    <a:pt x="14358" y="572353"/>
                  </a:lnTo>
                  <a:cubicBezTo>
                    <a:pt x="6428" y="572353"/>
                    <a:pt x="0" y="565925"/>
                    <a:pt x="0" y="557995"/>
                  </a:cubicBezTo>
                  <a:lnTo>
                    <a:pt x="0" y="14358"/>
                  </a:lnTo>
                  <a:cubicBezTo>
                    <a:pt x="0" y="6428"/>
                    <a:pt x="6428" y="0"/>
                    <a:pt x="14358" y="0"/>
                  </a:cubicBezTo>
                  <a:close/>
                </a:path>
              </a:pathLst>
            </a:custGeom>
            <a:solidFill>
              <a:srgbClr val="10B981"/>
            </a:solidFill>
          </p:spPr>
        </p:sp>
        <p:sp>
          <p:nvSpPr>
            <p:cNvPr id="14" name="TextBox 14"/>
            <p:cNvSpPr txBox="1"/>
            <p:nvPr/>
          </p:nvSpPr>
          <p:spPr>
            <a:xfrm>
              <a:off x="0" y="-38100"/>
              <a:ext cx="1677297" cy="610453"/>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842217" y="2522158"/>
            <a:ext cx="9186158" cy="3241699"/>
            <a:chOff x="0" y="0"/>
            <a:chExt cx="1680894" cy="593170"/>
          </a:xfrm>
        </p:grpSpPr>
        <p:sp>
          <p:nvSpPr>
            <p:cNvPr id="16" name="Freeform 16"/>
            <p:cNvSpPr/>
            <p:nvPr/>
          </p:nvSpPr>
          <p:spPr>
            <a:xfrm>
              <a:off x="0" y="0"/>
              <a:ext cx="1680894" cy="593170"/>
            </a:xfrm>
            <a:custGeom>
              <a:avLst/>
              <a:gdLst/>
              <a:ahLst/>
              <a:cxnLst/>
              <a:rect l="l" t="t" r="r" b="b"/>
              <a:pathLst>
                <a:path w="1680894" h="593170">
                  <a:moveTo>
                    <a:pt x="14327" y="0"/>
                  </a:moveTo>
                  <a:lnTo>
                    <a:pt x="1666567" y="0"/>
                  </a:lnTo>
                  <a:cubicBezTo>
                    <a:pt x="1670367" y="0"/>
                    <a:pt x="1674011" y="1509"/>
                    <a:pt x="1676698" y="4196"/>
                  </a:cubicBezTo>
                  <a:cubicBezTo>
                    <a:pt x="1679385" y="6883"/>
                    <a:pt x="1680894" y="10527"/>
                    <a:pt x="1680894" y="14327"/>
                  </a:cubicBezTo>
                  <a:lnTo>
                    <a:pt x="1680894" y="578843"/>
                  </a:lnTo>
                  <a:cubicBezTo>
                    <a:pt x="1680894" y="586755"/>
                    <a:pt x="1674480" y="593170"/>
                    <a:pt x="1666567" y="593170"/>
                  </a:cubicBezTo>
                  <a:lnTo>
                    <a:pt x="14327" y="593170"/>
                  </a:lnTo>
                  <a:cubicBezTo>
                    <a:pt x="6415" y="593170"/>
                    <a:pt x="0" y="586755"/>
                    <a:pt x="0" y="578843"/>
                  </a:cubicBezTo>
                  <a:lnTo>
                    <a:pt x="0" y="14327"/>
                  </a:lnTo>
                  <a:cubicBezTo>
                    <a:pt x="0" y="10527"/>
                    <a:pt x="1509" y="6883"/>
                    <a:pt x="4196" y="4196"/>
                  </a:cubicBezTo>
                  <a:cubicBezTo>
                    <a:pt x="6883" y="1509"/>
                    <a:pt x="10527" y="0"/>
                    <a:pt x="14327" y="0"/>
                  </a:cubicBezTo>
                  <a:close/>
                </a:path>
              </a:pathLst>
            </a:custGeom>
            <a:solidFill>
              <a:srgbClr val="F8FAFC"/>
            </a:solidFill>
          </p:spPr>
        </p:sp>
        <p:sp>
          <p:nvSpPr>
            <p:cNvPr id="17" name="TextBox 17"/>
            <p:cNvSpPr txBox="1"/>
            <p:nvPr/>
          </p:nvSpPr>
          <p:spPr>
            <a:xfrm>
              <a:off x="0" y="-38100"/>
              <a:ext cx="1680894" cy="631270"/>
            </a:xfrm>
            <a:prstGeom prst="rect">
              <a:avLst/>
            </a:prstGeom>
          </p:spPr>
          <p:txBody>
            <a:bodyPr lIns="50800" tIns="50800" rIns="50800" bIns="50800" rtlCol="0" anchor="ctr"/>
            <a:lstStyle/>
            <a:p>
              <a:pPr algn="ctr">
                <a:lnSpc>
                  <a:spcPts val="3499"/>
                </a:lnSpc>
              </a:pPr>
              <a:endParaRPr/>
            </a:p>
          </p:txBody>
        </p:sp>
      </p:grpSp>
      <p:sp>
        <p:nvSpPr>
          <p:cNvPr id="18" name="TextBox 18"/>
          <p:cNvSpPr txBox="1"/>
          <p:nvPr/>
        </p:nvSpPr>
        <p:spPr>
          <a:xfrm>
            <a:off x="1278989" y="4219961"/>
            <a:ext cx="5158181" cy="514350"/>
          </a:xfrm>
          <a:prstGeom prst="rect">
            <a:avLst/>
          </a:prstGeom>
        </p:spPr>
        <p:txBody>
          <a:bodyPr lIns="0" tIns="0" rIns="0" bIns="0" rtlCol="0" anchor="t">
            <a:spAutoFit/>
          </a:bodyPr>
          <a:lstStyle/>
          <a:p>
            <a:pPr algn="l">
              <a:lnSpc>
                <a:spcPts val="4200"/>
              </a:lnSpc>
              <a:spcBef>
                <a:spcPct val="0"/>
              </a:spcBef>
            </a:pPr>
            <a:r>
              <a:rPr lang="en-US" sz="3000" b="1">
                <a:solidFill>
                  <a:srgbClr val="10B981"/>
                </a:solidFill>
                <a:latin typeface="Montserrat Bold"/>
                <a:ea typeface="Montserrat Bold"/>
                <a:cs typeface="Montserrat Bold"/>
                <a:sym typeface="Montserrat Bold"/>
              </a:rPr>
              <a:t>RMSE : </a:t>
            </a:r>
            <a:r>
              <a:rPr lang="en-US" sz="3000">
                <a:solidFill>
                  <a:srgbClr val="000000"/>
                </a:solidFill>
                <a:latin typeface="Montserrat"/>
                <a:ea typeface="Montserrat"/>
                <a:cs typeface="Montserrat"/>
                <a:sym typeface="Montserrat"/>
              </a:rPr>
              <a:t>799.64 DT</a:t>
            </a:r>
          </a:p>
        </p:txBody>
      </p:sp>
      <p:sp>
        <p:nvSpPr>
          <p:cNvPr id="19" name="TextBox 19"/>
          <p:cNvSpPr txBox="1"/>
          <p:nvPr/>
        </p:nvSpPr>
        <p:spPr>
          <a:xfrm>
            <a:off x="1278989" y="2895986"/>
            <a:ext cx="9472113" cy="10477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Mesure de l'écart moyen entre les dépenses réelles et prédites.</a:t>
            </a:r>
          </a:p>
        </p:txBody>
      </p:sp>
      <p:sp>
        <p:nvSpPr>
          <p:cNvPr id="20" name="TextBox 20"/>
          <p:cNvSpPr txBox="1"/>
          <p:nvPr/>
        </p:nvSpPr>
        <p:spPr>
          <a:xfrm>
            <a:off x="1278989" y="4857750"/>
            <a:ext cx="5158181" cy="514350"/>
          </a:xfrm>
          <a:prstGeom prst="rect">
            <a:avLst/>
          </a:prstGeom>
        </p:spPr>
        <p:txBody>
          <a:bodyPr lIns="0" tIns="0" rIns="0" bIns="0" rtlCol="0" anchor="t">
            <a:spAutoFit/>
          </a:bodyPr>
          <a:lstStyle/>
          <a:p>
            <a:pPr algn="l">
              <a:lnSpc>
                <a:spcPts val="4200"/>
              </a:lnSpc>
              <a:spcBef>
                <a:spcPct val="0"/>
              </a:spcBef>
            </a:pPr>
            <a:r>
              <a:rPr lang="en-US" sz="3000" b="1">
                <a:solidFill>
                  <a:srgbClr val="10B981"/>
                </a:solidFill>
                <a:latin typeface="Montserrat Bold"/>
                <a:ea typeface="Montserrat Bold"/>
                <a:cs typeface="Montserrat Bold"/>
                <a:sym typeface="Montserrat Bold"/>
              </a:rPr>
              <a:t>MAE : </a:t>
            </a:r>
            <a:r>
              <a:rPr lang="en-US" sz="3000">
                <a:solidFill>
                  <a:srgbClr val="000000"/>
                </a:solidFill>
                <a:latin typeface="Montserrat"/>
                <a:ea typeface="Montserrat"/>
                <a:cs typeface="Montserrat"/>
                <a:sym typeface="Montserrat"/>
              </a:rPr>
              <a:t>265.01 DT</a:t>
            </a:r>
          </a:p>
        </p:txBody>
      </p:sp>
      <p:sp>
        <p:nvSpPr>
          <p:cNvPr id="21" name="TextBox 21"/>
          <p:cNvSpPr txBox="1"/>
          <p:nvPr/>
        </p:nvSpPr>
        <p:spPr>
          <a:xfrm>
            <a:off x="17312878" y="9182100"/>
            <a:ext cx="431244"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1402080" y="1558925"/>
            <a:ext cx="15483840" cy="8229600"/>
          </a:xfrm>
          <a:prstGeom prst="rect">
            <a:avLst/>
          </a:prstGeom>
        </p:spPr>
      </p:pic>
      <p:sp>
        <p:nvSpPr>
          <p:cNvPr id="3" name="TextBox 3"/>
          <p:cNvSpPr txBox="1"/>
          <p:nvPr/>
        </p:nvSpPr>
        <p:spPr>
          <a:xfrm>
            <a:off x="17317343" y="9182100"/>
            <a:ext cx="422315"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17</a:t>
            </a:r>
          </a:p>
        </p:txBody>
      </p:sp>
      <p:sp>
        <p:nvSpPr>
          <p:cNvPr id="4" name="TextBox 4"/>
          <p:cNvSpPr txBox="1"/>
          <p:nvPr/>
        </p:nvSpPr>
        <p:spPr>
          <a:xfrm>
            <a:off x="821030" y="188123"/>
            <a:ext cx="13017818"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Solution Déployée (Streamlit)</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61873" y="699708"/>
            <a:ext cx="5767527" cy="1193800"/>
          </a:xfrm>
          <a:prstGeom prst="rect">
            <a:avLst/>
          </a:prstGeom>
        </p:spPr>
        <p:txBody>
          <a:bodyPr wrap="square" lIns="0" tIns="0" rIns="0" bIns="0" rtlCol="0" anchor="t">
            <a:spAutoFit/>
          </a:bodyPr>
          <a:lstStyle/>
          <a:p>
            <a:pPr algn="ctr">
              <a:lnSpc>
                <a:spcPts val="9799"/>
              </a:lnSpc>
              <a:spcBef>
                <a:spcPct val="0"/>
              </a:spcBef>
            </a:pPr>
            <a:r>
              <a:rPr lang="en-US" sz="6999" b="1" dirty="0">
                <a:solidFill>
                  <a:srgbClr val="000000"/>
                </a:solidFill>
                <a:latin typeface="Open Sans Bold"/>
                <a:ea typeface="Open Sans Bold"/>
                <a:cs typeface="Open Sans Bold"/>
                <a:sym typeface="Open Sans Bold"/>
              </a:rPr>
              <a:t>Conclusion</a:t>
            </a:r>
          </a:p>
        </p:txBody>
      </p:sp>
      <p:grpSp>
        <p:nvGrpSpPr>
          <p:cNvPr id="3" name="Group 3"/>
          <p:cNvGrpSpPr/>
          <p:nvPr/>
        </p:nvGrpSpPr>
        <p:grpSpPr>
          <a:xfrm>
            <a:off x="877660" y="3836949"/>
            <a:ext cx="16528947" cy="3127936"/>
            <a:chOff x="0" y="0"/>
            <a:chExt cx="3024486" cy="572353"/>
          </a:xfrm>
        </p:grpSpPr>
        <p:sp>
          <p:nvSpPr>
            <p:cNvPr id="4" name="Freeform 4"/>
            <p:cNvSpPr/>
            <p:nvPr/>
          </p:nvSpPr>
          <p:spPr>
            <a:xfrm>
              <a:off x="0" y="0"/>
              <a:ext cx="3024486" cy="572353"/>
            </a:xfrm>
            <a:custGeom>
              <a:avLst/>
              <a:gdLst/>
              <a:ahLst/>
              <a:cxnLst/>
              <a:rect l="l" t="t" r="r" b="b"/>
              <a:pathLst>
                <a:path w="3024486" h="572353">
                  <a:moveTo>
                    <a:pt x="7963" y="0"/>
                  </a:moveTo>
                  <a:lnTo>
                    <a:pt x="3016524" y="0"/>
                  </a:lnTo>
                  <a:cubicBezTo>
                    <a:pt x="3020921" y="0"/>
                    <a:pt x="3024486" y="3565"/>
                    <a:pt x="3024486" y="7963"/>
                  </a:cubicBezTo>
                  <a:lnTo>
                    <a:pt x="3024486" y="564391"/>
                  </a:lnTo>
                  <a:cubicBezTo>
                    <a:pt x="3024486" y="568789"/>
                    <a:pt x="3020921" y="572353"/>
                    <a:pt x="3016524" y="572353"/>
                  </a:cubicBezTo>
                  <a:lnTo>
                    <a:pt x="7963" y="572353"/>
                  </a:lnTo>
                  <a:cubicBezTo>
                    <a:pt x="3565" y="572353"/>
                    <a:pt x="0" y="568789"/>
                    <a:pt x="0" y="564391"/>
                  </a:cubicBezTo>
                  <a:lnTo>
                    <a:pt x="0" y="7963"/>
                  </a:lnTo>
                  <a:cubicBezTo>
                    <a:pt x="0" y="3565"/>
                    <a:pt x="3565" y="0"/>
                    <a:pt x="7963" y="0"/>
                  </a:cubicBezTo>
                  <a:close/>
                </a:path>
              </a:pathLst>
            </a:custGeom>
            <a:solidFill>
              <a:srgbClr val="10B981"/>
            </a:solidFill>
          </p:spPr>
        </p:sp>
        <p:sp>
          <p:nvSpPr>
            <p:cNvPr id="5" name="TextBox 5"/>
            <p:cNvSpPr txBox="1"/>
            <p:nvPr/>
          </p:nvSpPr>
          <p:spPr>
            <a:xfrm>
              <a:off x="0" y="-38100"/>
              <a:ext cx="3024486" cy="610453"/>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842217" y="3645964"/>
            <a:ext cx="16564390" cy="3241699"/>
            <a:chOff x="0" y="0"/>
            <a:chExt cx="3030972" cy="593170"/>
          </a:xfrm>
        </p:grpSpPr>
        <p:sp>
          <p:nvSpPr>
            <p:cNvPr id="7" name="Freeform 7"/>
            <p:cNvSpPr/>
            <p:nvPr/>
          </p:nvSpPr>
          <p:spPr>
            <a:xfrm>
              <a:off x="0" y="0"/>
              <a:ext cx="3030972" cy="593170"/>
            </a:xfrm>
            <a:custGeom>
              <a:avLst/>
              <a:gdLst/>
              <a:ahLst/>
              <a:cxnLst/>
              <a:rect l="l" t="t" r="r" b="b"/>
              <a:pathLst>
                <a:path w="3030972" h="593170">
                  <a:moveTo>
                    <a:pt x="7946" y="0"/>
                  </a:moveTo>
                  <a:lnTo>
                    <a:pt x="3023026" y="0"/>
                  </a:lnTo>
                  <a:cubicBezTo>
                    <a:pt x="3025134" y="0"/>
                    <a:pt x="3027155" y="837"/>
                    <a:pt x="3028645" y="2327"/>
                  </a:cubicBezTo>
                  <a:cubicBezTo>
                    <a:pt x="3030135" y="3817"/>
                    <a:pt x="3030972" y="5838"/>
                    <a:pt x="3030972" y="7946"/>
                  </a:cubicBezTo>
                  <a:lnTo>
                    <a:pt x="3030972" y="585225"/>
                  </a:lnTo>
                  <a:cubicBezTo>
                    <a:pt x="3030972" y="589613"/>
                    <a:pt x="3027414" y="593170"/>
                    <a:pt x="3023026" y="593170"/>
                  </a:cubicBezTo>
                  <a:lnTo>
                    <a:pt x="7946" y="593170"/>
                  </a:lnTo>
                  <a:cubicBezTo>
                    <a:pt x="3557" y="593170"/>
                    <a:pt x="0" y="589613"/>
                    <a:pt x="0" y="585225"/>
                  </a:cubicBezTo>
                  <a:lnTo>
                    <a:pt x="0" y="7946"/>
                  </a:lnTo>
                  <a:cubicBezTo>
                    <a:pt x="0" y="3557"/>
                    <a:pt x="3557" y="0"/>
                    <a:pt x="7946" y="0"/>
                  </a:cubicBezTo>
                  <a:close/>
                </a:path>
              </a:pathLst>
            </a:custGeom>
            <a:solidFill>
              <a:srgbClr val="F8FAFC"/>
            </a:solidFill>
          </p:spPr>
        </p:sp>
        <p:sp>
          <p:nvSpPr>
            <p:cNvPr id="8" name="TextBox 8"/>
            <p:cNvSpPr txBox="1"/>
            <p:nvPr/>
          </p:nvSpPr>
          <p:spPr>
            <a:xfrm>
              <a:off x="0" y="-38100"/>
              <a:ext cx="3030972" cy="631270"/>
            </a:xfrm>
            <a:prstGeom prst="rect">
              <a:avLst/>
            </a:prstGeom>
          </p:spPr>
          <p:txBody>
            <a:bodyPr lIns="50800" tIns="50800" rIns="50800" bIns="50800" rtlCol="0" anchor="ctr"/>
            <a:lstStyle/>
            <a:p>
              <a:pPr algn="ctr">
                <a:lnSpc>
                  <a:spcPts val="3499"/>
                </a:lnSpc>
              </a:pPr>
              <a:endParaRPr/>
            </a:p>
          </p:txBody>
        </p:sp>
      </p:grpSp>
      <p:sp>
        <p:nvSpPr>
          <p:cNvPr id="9" name="TextBox 9"/>
          <p:cNvSpPr txBox="1"/>
          <p:nvPr/>
        </p:nvSpPr>
        <p:spPr>
          <a:xfrm>
            <a:off x="1216899" y="4315067"/>
            <a:ext cx="16042401" cy="21145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En conclusion, ce projet Retail Intelligence démontre comment la science des données peut transformer la gestion client. En combinant la segmentation stratégique, la détection prédictive de l'attrition et l'estimation précise des revenus, nous passons d'une gestion réactive à une stratégie proactive.</a:t>
            </a:r>
          </a:p>
        </p:txBody>
      </p:sp>
      <p:sp>
        <p:nvSpPr>
          <p:cNvPr id="10" name="TextBox 10"/>
          <p:cNvSpPr txBox="1"/>
          <p:nvPr/>
        </p:nvSpPr>
        <p:spPr>
          <a:xfrm>
            <a:off x="17306448" y="9182100"/>
            <a:ext cx="444103"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699708"/>
            <a:ext cx="13708693" cy="1193800"/>
          </a:xfrm>
          <a:prstGeom prst="rect">
            <a:avLst/>
          </a:prstGeom>
        </p:spPr>
        <p:txBody>
          <a:bodyPr lIns="0" tIns="0" rIns="0" bIns="0" rtlCol="0" anchor="t">
            <a:spAutoFit/>
          </a:bodyPr>
          <a:lstStyle/>
          <a:p>
            <a:pPr algn="ctr">
              <a:lnSpc>
                <a:spcPts val="9799"/>
              </a:lnSpc>
              <a:spcBef>
                <a:spcPct val="0"/>
              </a:spcBef>
            </a:pPr>
            <a:r>
              <a:rPr lang="en-US" sz="6999" b="1">
                <a:solidFill>
                  <a:srgbClr val="000000"/>
                </a:solidFill>
                <a:latin typeface="Open Sans Bold"/>
                <a:ea typeface="Open Sans Bold"/>
                <a:cs typeface="Open Sans Bold"/>
                <a:sym typeface="Open Sans Bold"/>
              </a:rPr>
              <a:t>Perspectives et Évolutions</a:t>
            </a:r>
          </a:p>
        </p:txBody>
      </p:sp>
      <p:grpSp>
        <p:nvGrpSpPr>
          <p:cNvPr id="3" name="Group 3"/>
          <p:cNvGrpSpPr/>
          <p:nvPr/>
        </p:nvGrpSpPr>
        <p:grpSpPr>
          <a:xfrm>
            <a:off x="877660" y="3836949"/>
            <a:ext cx="16528947" cy="3127936"/>
            <a:chOff x="0" y="0"/>
            <a:chExt cx="3024486" cy="572353"/>
          </a:xfrm>
        </p:grpSpPr>
        <p:sp>
          <p:nvSpPr>
            <p:cNvPr id="4" name="Freeform 4"/>
            <p:cNvSpPr/>
            <p:nvPr/>
          </p:nvSpPr>
          <p:spPr>
            <a:xfrm>
              <a:off x="0" y="0"/>
              <a:ext cx="3024486" cy="572353"/>
            </a:xfrm>
            <a:custGeom>
              <a:avLst/>
              <a:gdLst/>
              <a:ahLst/>
              <a:cxnLst/>
              <a:rect l="l" t="t" r="r" b="b"/>
              <a:pathLst>
                <a:path w="3024486" h="572353">
                  <a:moveTo>
                    <a:pt x="7963" y="0"/>
                  </a:moveTo>
                  <a:lnTo>
                    <a:pt x="3016524" y="0"/>
                  </a:lnTo>
                  <a:cubicBezTo>
                    <a:pt x="3020921" y="0"/>
                    <a:pt x="3024486" y="3565"/>
                    <a:pt x="3024486" y="7963"/>
                  </a:cubicBezTo>
                  <a:lnTo>
                    <a:pt x="3024486" y="564391"/>
                  </a:lnTo>
                  <a:cubicBezTo>
                    <a:pt x="3024486" y="568789"/>
                    <a:pt x="3020921" y="572353"/>
                    <a:pt x="3016524" y="572353"/>
                  </a:cubicBezTo>
                  <a:lnTo>
                    <a:pt x="7963" y="572353"/>
                  </a:lnTo>
                  <a:cubicBezTo>
                    <a:pt x="3565" y="572353"/>
                    <a:pt x="0" y="568789"/>
                    <a:pt x="0" y="564391"/>
                  </a:cubicBezTo>
                  <a:lnTo>
                    <a:pt x="0" y="7963"/>
                  </a:lnTo>
                  <a:cubicBezTo>
                    <a:pt x="0" y="3565"/>
                    <a:pt x="3565" y="0"/>
                    <a:pt x="7963" y="0"/>
                  </a:cubicBezTo>
                  <a:close/>
                </a:path>
              </a:pathLst>
            </a:custGeom>
            <a:solidFill>
              <a:srgbClr val="10B981"/>
            </a:solidFill>
          </p:spPr>
        </p:sp>
        <p:sp>
          <p:nvSpPr>
            <p:cNvPr id="5" name="TextBox 5"/>
            <p:cNvSpPr txBox="1"/>
            <p:nvPr/>
          </p:nvSpPr>
          <p:spPr>
            <a:xfrm>
              <a:off x="0" y="-38100"/>
              <a:ext cx="3024486" cy="610453"/>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842217" y="3645964"/>
            <a:ext cx="16564390" cy="3241699"/>
            <a:chOff x="0" y="0"/>
            <a:chExt cx="3030972" cy="593170"/>
          </a:xfrm>
        </p:grpSpPr>
        <p:sp>
          <p:nvSpPr>
            <p:cNvPr id="7" name="Freeform 7"/>
            <p:cNvSpPr/>
            <p:nvPr/>
          </p:nvSpPr>
          <p:spPr>
            <a:xfrm>
              <a:off x="0" y="0"/>
              <a:ext cx="3030972" cy="593170"/>
            </a:xfrm>
            <a:custGeom>
              <a:avLst/>
              <a:gdLst/>
              <a:ahLst/>
              <a:cxnLst/>
              <a:rect l="l" t="t" r="r" b="b"/>
              <a:pathLst>
                <a:path w="3030972" h="593170">
                  <a:moveTo>
                    <a:pt x="7946" y="0"/>
                  </a:moveTo>
                  <a:lnTo>
                    <a:pt x="3023026" y="0"/>
                  </a:lnTo>
                  <a:cubicBezTo>
                    <a:pt x="3025134" y="0"/>
                    <a:pt x="3027155" y="837"/>
                    <a:pt x="3028645" y="2327"/>
                  </a:cubicBezTo>
                  <a:cubicBezTo>
                    <a:pt x="3030135" y="3817"/>
                    <a:pt x="3030972" y="5838"/>
                    <a:pt x="3030972" y="7946"/>
                  </a:cubicBezTo>
                  <a:lnTo>
                    <a:pt x="3030972" y="585225"/>
                  </a:lnTo>
                  <a:cubicBezTo>
                    <a:pt x="3030972" y="589613"/>
                    <a:pt x="3027414" y="593170"/>
                    <a:pt x="3023026" y="593170"/>
                  </a:cubicBezTo>
                  <a:lnTo>
                    <a:pt x="7946" y="593170"/>
                  </a:lnTo>
                  <a:cubicBezTo>
                    <a:pt x="3557" y="593170"/>
                    <a:pt x="0" y="589613"/>
                    <a:pt x="0" y="585225"/>
                  </a:cubicBezTo>
                  <a:lnTo>
                    <a:pt x="0" y="7946"/>
                  </a:lnTo>
                  <a:cubicBezTo>
                    <a:pt x="0" y="3557"/>
                    <a:pt x="3557" y="0"/>
                    <a:pt x="7946" y="0"/>
                  </a:cubicBezTo>
                  <a:close/>
                </a:path>
              </a:pathLst>
            </a:custGeom>
            <a:solidFill>
              <a:srgbClr val="F8FAFC"/>
            </a:solidFill>
          </p:spPr>
        </p:sp>
        <p:sp>
          <p:nvSpPr>
            <p:cNvPr id="8" name="TextBox 8"/>
            <p:cNvSpPr txBox="1"/>
            <p:nvPr/>
          </p:nvSpPr>
          <p:spPr>
            <a:xfrm>
              <a:off x="0" y="-38100"/>
              <a:ext cx="3030972" cy="631270"/>
            </a:xfrm>
            <a:prstGeom prst="rect">
              <a:avLst/>
            </a:prstGeom>
          </p:spPr>
          <p:txBody>
            <a:bodyPr lIns="50800" tIns="50800" rIns="50800" bIns="50800" rtlCol="0" anchor="ctr"/>
            <a:lstStyle/>
            <a:p>
              <a:pPr algn="ctr">
                <a:lnSpc>
                  <a:spcPts val="3499"/>
                </a:lnSpc>
              </a:pPr>
              <a:endParaRPr/>
            </a:p>
          </p:txBody>
        </p:sp>
      </p:grpSp>
      <p:sp>
        <p:nvSpPr>
          <p:cNvPr id="9" name="TextBox 9"/>
          <p:cNvSpPr txBox="1"/>
          <p:nvPr/>
        </p:nvSpPr>
        <p:spPr>
          <a:xfrm>
            <a:off x="1213625" y="4714364"/>
            <a:ext cx="16042401" cy="10477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a:ea typeface="Montserrat"/>
                <a:cs typeface="Montserrat"/>
                <a:sym typeface="Montserrat"/>
              </a:rPr>
              <a:t>L'intégration d'un système de recommandation, en permettant de transformer les analyses prédictives en actions de vente personnalisées.</a:t>
            </a:r>
          </a:p>
        </p:txBody>
      </p:sp>
      <p:sp>
        <p:nvSpPr>
          <p:cNvPr id="10" name="TextBox 10"/>
          <p:cNvSpPr txBox="1"/>
          <p:nvPr/>
        </p:nvSpPr>
        <p:spPr>
          <a:xfrm>
            <a:off x="17312878" y="9182100"/>
            <a:ext cx="431244"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Montserrat"/>
                <a:ea typeface="Montserrat"/>
                <a:cs typeface="Montserrat"/>
                <a:sym typeface="Montserrat"/>
              </a:rPr>
              <a:t>19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1028700" y="4295775"/>
            <a:ext cx="16102689" cy="1533525"/>
          </a:xfrm>
          <a:prstGeom prst="rect">
            <a:avLst/>
          </a:prstGeom>
        </p:spPr>
        <p:txBody>
          <a:bodyPr lIns="0" tIns="0" rIns="0" bIns="0" rtlCol="0" anchor="t">
            <a:spAutoFit/>
          </a:bodyPr>
          <a:lstStyle/>
          <a:p>
            <a:pPr algn="ctr">
              <a:lnSpc>
                <a:spcPts val="12599"/>
              </a:lnSpc>
              <a:spcBef>
                <a:spcPct val="0"/>
              </a:spcBef>
            </a:pPr>
            <a:r>
              <a:rPr lang="en-US" sz="9000" b="1">
                <a:solidFill>
                  <a:srgbClr val="10B981"/>
                </a:solidFill>
                <a:latin typeface="Open Sans Bold"/>
                <a:ea typeface="Open Sans Bold"/>
                <a:cs typeface="Open Sans Bold"/>
                <a:sym typeface="Open Sans Bold"/>
              </a:rPr>
              <a:t>Merci pour votre attention</a:t>
            </a:r>
          </a:p>
        </p:txBody>
      </p:sp>
      <p:sp>
        <p:nvSpPr>
          <p:cNvPr id="3" name="TextBox 3"/>
          <p:cNvSpPr txBox="1"/>
          <p:nvPr/>
        </p:nvSpPr>
        <p:spPr>
          <a:xfrm>
            <a:off x="6052524" y="6509519"/>
            <a:ext cx="7053876" cy="514350"/>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94A3B8"/>
                </a:solidFill>
                <a:latin typeface="Montserrat Bold"/>
                <a:ea typeface="Montserrat Bold"/>
                <a:cs typeface="Montserrat Bold"/>
                <a:sym typeface="Montserrat Bold"/>
              </a:rPr>
              <a:t>Rahma Ben Ameur — ENIS (GI2)</a:t>
            </a:r>
          </a:p>
        </p:txBody>
      </p:sp>
      <p:sp>
        <p:nvSpPr>
          <p:cNvPr id="4" name="TextBox 4"/>
          <p:cNvSpPr txBox="1"/>
          <p:nvPr/>
        </p:nvSpPr>
        <p:spPr>
          <a:xfrm>
            <a:off x="6266914" y="7189790"/>
            <a:ext cx="6687086" cy="415819"/>
          </a:xfrm>
          <a:prstGeom prst="rect">
            <a:avLst/>
          </a:prstGeom>
        </p:spPr>
        <p:txBody>
          <a:bodyPr wrap="square" lIns="0" tIns="0" rIns="0" bIns="0" rtlCol="0" anchor="t">
            <a:spAutoFit/>
          </a:bodyPr>
          <a:lstStyle/>
          <a:p>
            <a:pPr algn="ctr">
              <a:lnSpc>
                <a:spcPts val="3499"/>
              </a:lnSpc>
              <a:spcBef>
                <a:spcPct val="0"/>
              </a:spcBef>
            </a:pPr>
            <a:r>
              <a:rPr lang="en-US" sz="2499" dirty="0">
                <a:solidFill>
                  <a:srgbClr val="94A3B8"/>
                </a:solidFill>
                <a:latin typeface="Montserrat"/>
                <a:ea typeface="Montserrat"/>
                <a:cs typeface="Montserrat"/>
                <a:sym typeface="Montserrat"/>
              </a:rPr>
              <a:t>Atelier Machine Learning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640</Words>
  <Application>Microsoft Office PowerPoint</Application>
  <PresentationFormat>Personnalisé</PresentationFormat>
  <Paragraphs>108</Paragraphs>
  <Slides>22</Slides>
  <Notes>0</Notes>
  <HiddenSlides>0</HiddenSlides>
  <MMClips>1</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22</vt:i4>
      </vt:variant>
    </vt:vector>
  </HeadingPairs>
  <TitlesOfParts>
    <vt:vector size="31" baseType="lpstr">
      <vt:lpstr>Open Sans Bold</vt:lpstr>
      <vt:lpstr>Arial</vt:lpstr>
      <vt:lpstr>Open Sans</vt:lpstr>
      <vt:lpstr>Montserrat</vt:lpstr>
      <vt:lpstr>Calibri</vt:lpstr>
      <vt:lpstr>Chewy</vt:lpstr>
      <vt:lpstr>Montserrat Semi-Bold</vt:lpstr>
      <vt:lpstr>Montserrat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INTELLIGENCE</dc:title>
  <cp:lastModifiedBy>Rahma</cp:lastModifiedBy>
  <cp:revision>2</cp:revision>
  <dcterms:created xsi:type="dcterms:W3CDTF">2006-08-16T00:00:00Z</dcterms:created>
  <dcterms:modified xsi:type="dcterms:W3CDTF">2026-04-15T16:25:22Z</dcterms:modified>
  <dc:identifier>DAHGevYKzJ0</dc:identifier>
</cp:coreProperties>
</file>